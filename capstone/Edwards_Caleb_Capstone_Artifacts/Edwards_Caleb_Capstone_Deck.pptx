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21"/>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Caleb Edwards. I spent the last several years as a general surgery resident, and I am moving into healthcare data analytics.
For this capstone I took the 2024 Medicare Part D prescriber file for Colorado and asked one practical question: if a health system can only review a few hundred prescribers this year, which few hundred should it review?
The short version of my answer is in the title. The list most organizations build — rank everybody by how much they spend — systematically misses about half of the prescribers who are actually unusual. I will show you why, and I will show you the 507 clinicians I would look at first.
No prior knowledge of the data or the tools is needed. I will define everything as I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 is the outpatient prescription drug benefit under Medicare. It is run through private plans, and CMS publishes a public file every year showing what each prescriber prescribed and what those prescriptions cost. There is no patient identity in it — no PHI.
For Colorado in 2024 that is two point seven four billion dollars, spread across roughly nineteen thousand prescribers and about eleven hundred generic drugs.
Now put yourself in the seat of a population health team at a health system or a plan. You have a handful of pharmacists and maybe one medical director. You cannot review nineteen thousand people. You can review a few hundred.
So the decision is: which few hundred, and what is the evidence for picking them? That is the whole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data, here is the fork in the road.
Option A is the list almost everyone builds. Sort all nineteen thousand prescribers by spend, take the top, go talk to those people. Easy, and defensible on its face.
The problem is that an oncologist and a dentist land on the same ranking. Cancer drugs cost thousands of dollars a prescription because they are cancer drugs. So a statewide ranking mostly measures what kind of medicine somebody practices, not how they practice it.
Option B compares every prescriber only to peers in their own specialty. That is more work — you need the whole file and percentiles inside every specialty.
The entire analysis is a test of whether option B is worth it. Hold onto that, because everything after this is evidence one way or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one CSV: three hundred ninety thousand rows, twenty-two columns. Each row is one prescriber, one drug, for the year — how many claims and what it cost.
Preparation was deliberately conservative. I converted the ten numeric columns from text to numbers, and not one value failed to convert. No duplicate rows. No prescriber showing up under two specialties.
The judgment call worth naming: I did not fill in blanks. In this file a blank is not a mistake — CMS blanks out any cell that would identify a small number of patients. Filling those with zero would have invented data.
So the reconciliation on the right is the point of the slide. Same row count in and out, and the dollar total ties to the penny. Every number today comes back to that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preparation decision shaped everything downstream, so it gets its own slide.
The measure you would want is cost per patient. I could not compute it — the patient-count column is blank on fifty-nine percent of rows because of that privacy suppression. A denominator missing more than half the time is not a denominator.
What is complete is claims and dollars, zero percent blank on both. So the unit of measure throughout is cost per prescription claim.
The chart shows what that looks like. The typical prescription costs about thirty-one dollars; the average is a hundred ninety-three. When the average is six times the middle, you have a long tail of very expensive drugs pulling on it. That is why I leaned on tests that do not assume a bell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four tools, deliberately in this order.
Excel first — aggregate tables straight off the raw file. That is the reference every later number gets checked against.
SQL second, on the full file. This is where the peer groups get built: percentile window functions that rank each prescriber inside their own specialty.
Python third, for the statistics and the charts. Tableau last, as the executive view a director would actually open.
One thing I want to say plainly, because it will get asked. My proposal said regression. Regression was never taught in this program. Rather than import a library I could not explain line by line, I answered the same question with methods that were taught — analysis of variance, Kruskal-Wallis, and percentile ranking. I would rather defend a simpler method I understand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finding. I tested two ways of grouping prescribers — by specialty and by city — to see which one actually explains cost per prescription.
Both came back statistically significant. That sounds like a result and it is not. With nineteen thousand prescribers, almost anything comes back significant. The question is how big the difference is.
Specialty: the middle half of specialties differ eleven-fold on typical cost per prescription. City: one point eight fold. That is essentially noise.
So city-level geography is off the table as a targeting dimension, and specialty is the one that matters. Two caveats I will own: I tested the city names as CMS published them, without normalizing twenty-eight spelling variants, and city is not the same as region — a rural-versus-urban cut might show something. I did not run it, so I am not claiming geography is empty. I want to flag the reasoning move, because it is the most important one in the project: significant is not the same as important. I reported both and let the size of the effect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finding, made concrete. Every bar is one specialty, sorted by the typical cost of one prescription.
At the top, specialties where a single prescription runs into the thousands — oncology, pulmonary. At the bottom, a few dollars. The full range is five hundred eighty-four fold.
None of that is a behavior problem. That is what treating cancer costs versus what treating a routine condition costs.
One methodological note. I only included specialties with at least thirty prescribers, because a specialty with four people in it produces a median you cannot trust. That rule drops fifty-one of ninety-seven specialties, but those fifty-one hold only about three percent of the money, so I am not hiding much.
The takeaway: rank statewide, and you have built a list of oncologists.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finding, and this one surprised me.
I checked whether the prescribers who spend the most are also the ones whose individual prescriptions are most expensive. The correlation is negative zero point zero one one. That is zero.
Read it plainly: knowing a prescriber spent two million dollars tells you nothing about whether their prescriptions are expensive. High spend usually just means high volume — a busy clinic seeing a lot of patients.
This is the justification for the whole project. If those two measures moved together, a spend ranking would be a fine shortcut and none of this would be worth doing. They do not. So a program reviewing the biggest spenders is reviewing a volume list, and it will miss everyone whose issue is price per prescription.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test of that fork from earlier. I built both lists and compared them.
Four hundred thirty-one prescribers show up on the statewide list only — expensive prescriptions, but completely ordinary for their field.
Four hundred ninety-eight show up on both.
And four hundred sixty-seven show up only when compared to their own peers. That is forty-eight percent of the within-specialty list, and a statewide ranking never surfaces them. So the statewide list is roughly half noise, and it misses about half the real signal.
Altogether nine hundred sixty-five prescribers — five percent of the state — sit above their own specialty's ninety-fifth percentile and carry twenty-two percent of the money. That is a review list you could actually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piece before the recommendation, and this one is about feasibility rather than fairness.
Colorado Part D spend is extremely concentrated. Ten drugs account for a third of two point seven four billion dollars. Twenty account for forty-five percent. Twenty out of eleven hundred — that is under two percent of the drug list holding almost half the money.
The same shape holds on the prescriber side. The top ten percent of prescribers carry seventy-two percent of the spend.
Why this matters: it means a targeted program is worth building. If the money were spread evenly across eleven hundred drugs and nineteen thousand prescribers, no review list would move the needle and I would be telling you to do nothing. Concentration is what makes a few hundred conversations financially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who do you review? This table ranks specialties by spend flagged — the drug cost held by prescribers sitting above that specialty’s own ninety-fifth percentile. One note on the cost-per-claim column: it is specialty-weighted, total cost over total claims, which is why oncology reads higher here than the median I showed on Finding 1.
My recommendation is the four highlighted rows, reviewed as one cohort of five hundred seven clinicians.
Here is the reasoning, and it is the argument for the whole method. Nurse practitioners, physician assistants, internal medicine, family practice are the four cheapest segments on this list — seventy-three to a hundred forty-seven dollars a prescription. And yet their outliers hold three hundred seventeen million dollars, fifty-four percent of all outlier dollars in the state.
Those people are invisible to a statewide screen. A six-hundred-dollar claim looks unremarkable next to oncology and extraordinary next to a family practice peer group whose typical claim is seventy-three dollars.
Second tier is urology, for a different reason: nine prescribers hold fifty-three percent of that specialty's entire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careful about what I am not claiming, because this is data about real clinicians.
Most important: the file has no diagnoses and no patient severity. A prescriber above their peer group is a statistical outlier, not a bad doctor. It is a reason to look at a chart. It is not a finding of waste, and it is certainly not an accusation.
Second, and this is a recommendation as much as a limit: I am deliberately deprioritizing oncology, pulmonary and cardiology even though they rank high on dollars. Their drugs cost more because those drugs cost more. Spend reviewer hours where the peer gap is harder to explain.
Third, the cost figure is gross rather than net — it is the point-of-sale price, everything the plan, the patient and any third party paid combined, and it is before manufacturer rebates. One more I will name if it comes up: I built the sixty-five-and-over split in SQL but I am not reporting it, because those columns are suppressed on forty-two percent of rows and reporting a difference there would have meant an imputation decision I chose not to make quietly. And fourth, this is one year, one state, and I excluded fifty-one small specialties holding three percent of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next steps.
One: run the five hundred seven as a pilot — peer-comparison letters and pharmacist outreach, then check next year's file to see whether the gap narrowed. That is a measurable intervention, not a report that sits on a shelf.
Two: scope a formulary review to the top twenty drugs. Forty-five percent of the spend, twenty drugs.
Three: rebuild the flag with clinical context. Diagnoses and panel data would turn a statistical outlier into an actionable one, and a health system has that internally.
Four: run the same analysis on the 2023 file, because one year cannot separate a persistent pattern from an unusual year.
To close where I started: the list everybody builds misses about half the prescribers who are genuinely unusual, because spend and unit cost turn out to be unrelated. Comparing people to their own specialty finds a different, smaller, more defensible list.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executive layer — the fourth tool, and the one a population health director would actually open.</a:t>
            </a:r>
          </a:p>
          <a:p/>
          <a:p>
            <a:r>
              <a:t>Three worksheets and a dashboard on a prescriber-level extract of the same file: eighteen thousand nine hundred forty prescribers across forty-six specialties.</a:t>
            </a:r>
          </a:p>
          <a:p/>
          <a:p>
            <a:r>
              <a:t>Top left is the priority ranking by flagged spend. Top right is cost per claim for those same eight segments, weighted.</a:t>
            </a:r>
          </a:p>
          <a:p/>
          <a:p>
            <a:r>
              <a:t>Look at how differently they sort. Nurse practitioners are first on the left and sixth on the right. Hematology-oncology is fifth on the left and first on the right, by a mile. That inversion is the whole argument in one picture — the segments holding the most reviewable money are the cheap ones per prescription, and a unit-cost screen would skip right past them.</a:t>
            </a:r>
          </a:p>
          <a:p/>
          <a:p>
            <a:r>
              <a:t>The scatter underneath is every qualifying prescriber. Blue is the nine hundred sixty-five sitting above their own specialty's ninety-fifth percentile, orange is everyone else. Notice the blue sits high on price and low on volume — that is the same point Finding 2 made with a correlation of zero.</a:t>
            </a:r>
          </a:p>
          <a:p/>
          <a:p>
            <a:r>
              <a:t>It is interactive: clicking a specialty filters the other two panes, so I can drill into any segment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15.xml"/><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371600"/>
            <a:ext cx="4754880" cy="4754880"/>
          </a:xfrm>
          <a:prstGeom prst="ellipse">
            <a:avLst/>
          </a:prstGeom>
          <a:solidFill>
            <a:srgbClr val="065A82"/>
          </a:solidFill>
          <a:ln w="12700">
            <a:solidFill>
              <a:srgbClr val="065A82"/>
            </a:solidFill>
            <a:prstDash val="solid"/>
          </a:ln>
        </p:spPr>
        <p:txBody>
          <a:bodyPr/>
          <a:p/>
        </p:txBody>
      </p:sp>
      <p:sp>
        <p:nvSpPr>
          <p:cNvPr id="3" name="Shape 1"/>
          <p:cNvSpPr/>
          <p:nvPr/>
        </p:nvSpPr>
        <p:spPr>
          <a:xfrm>
            <a:off x="10881360" y="4206240"/>
            <a:ext cx="2377440" cy="2377440"/>
          </a:xfrm>
          <a:prstGeom prst="ellipse">
            <a:avLst/>
          </a:prstGeom>
          <a:solidFill>
            <a:srgbClr val="1C7293"/>
          </a:solidFill>
          <a:ln w="12700">
            <a:solidFill>
              <a:srgbClr val="1C7293"/>
            </a:solidFill>
            <a:prstDash val="solid"/>
          </a:ln>
        </p:spPr>
        <p:txBody>
          <a:bodyPr/>
          <a:p/>
        </p:txBody>
      </p:sp>
      <p:sp>
        <p:nvSpPr>
          <p:cNvPr id="4" name="Text 2"/>
          <p:cNvSpPr/>
          <p:nvPr/>
        </p:nvSpPr>
        <p:spPr>
          <a:xfrm>
            <a:off x="822960" y="1600200"/>
            <a:ext cx="8595360" cy="17373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Finding the prescribers a spend ranking cannot see</a:t>
            </a:r>
            <a:endParaRPr lang="en-US" sz="3800" dirty="0"/>
          </a:p>
        </p:txBody>
      </p:sp>
      <p:sp>
        <p:nvSpPr>
          <p:cNvPr id="5" name="Text 3"/>
          <p:cNvSpPr/>
          <p:nvPr/>
        </p:nvSpPr>
        <p:spPr>
          <a:xfrm>
            <a:off x="822960" y="3383280"/>
            <a:ext cx="8595360" cy="457200"/>
          </a:xfrm>
          <a:prstGeom prst="rect">
            <a:avLst/>
          </a:prstGeom>
          <a:noFill/>
          <a:ln/>
        </p:spPr>
        <p:txBody>
          <a:bodyPr wrap="square" lIns="0" tIns="0" rIns="0" bIns="0" rtlCol="0" anchor="ctr"/>
          <a:lstStyle/>
          <a:p>
            <a:pPr indent="0" marL="0">
              <a:buNone/>
            </a:pPr>
            <a:r>
              <a:rPr lang="en-US" sz="1700" dirty="0">
                <a:solidFill>
                  <a:srgbClr val="CFE3EC"/>
                </a:solidFill>
                <a:latin typeface="Calibri" pitchFamily="34" charset="0"/>
                <a:ea typeface="Calibri" pitchFamily="34" charset="-122"/>
                <a:cs typeface="Calibri" pitchFamily="34" charset="-120"/>
              </a:rPr>
              <a:t>An analysis of Colorado Medicare Part D prescribing patterns, 2024</a:t>
            </a:r>
            <a:endParaRPr lang="en-US" sz="1700" dirty="0"/>
          </a:p>
        </p:txBody>
      </p:sp>
      <p:sp>
        <p:nvSpPr>
          <p:cNvPr id="6" name="Text 4"/>
          <p:cNvSpPr/>
          <p:nvPr/>
        </p:nvSpPr>
        <p:spPr>
          <a:xfrm>
            <a:off x="822960" y="5394960"/>
            <a:ext cx="8778240" cy="457200"/>
          </a:xfrm>
          <a:prstGeom prst="rect">
            <a:avLst/>
          </a:prstGeom>
          <a:noFill/>
          <a:ln/>
        </p:spPr>
        <p:txBody>
          <a:bodyPr wrap="square" lIns="0" tIns="0" rIns="0" bIns="0" rtlCol="0" anchor="ctr"/>
          <a:lstStyle/>
          <a:p>
            <a:pPr indent="0" marL="0">
              <a:buNone/>
            </a:pPr>
            <a:r>
              <a:rPr lang="en-US" sz="1200" dirty="0">
                <a:solidFill>
                  <a:srgbClr val="9FC0D0"/>
                </a:solidFill>
                <a:latin typeface="Calibri" pitchFamily="34" charset="0"/>
                <a:ea typeface="Calibri" pitchFamily="34" charset="-122"/>
                <a:cs typeface="Calibri" pitchFamily="34" charset="-120"/>
              </a:rPr>
              <a:t>Caleb Edwards, M.D.   ·   Data Analytics Bootcamp Capstone   ·   Front Range Community College / Upright Education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BUSINESS PROBLEM</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Limited hours, thousands of prescribers</a:t>
            </a:r>
            <a:endParaRPr lang="en-US" sz="3200" dirty="0"/>
          </a:p>
        </p:txBody>
      </p:sp>
      <p:sp>
        <p:nvSpPr>
          <p:cNvPr id="4" name="Text 2"/>
          <p:cNvSpPr/>
          <p:nvPr/>
        </p:nvSpPr>
        <p:spPr>
          <a:xfrm>
            <a:off x="594360" y="1691640"/>
            <a:ext cx="6766560" cy="822960"/>
          </a:xfrm>
          <a:prstGeom prst="rect">
            <a:avLst/>
          </a:prstGeom>
          <a:noFill/>
          <a:ln/>
        </p:spPr>
        <p:txBody>
          <a:bodyPr wrap="square" lIns="0" tIns="0" rIns="0" bIns="0" rtlCol="0" anchor="t"/>
          <a:lstStyle/>
          <a:p>
            <a:pPr indent="0" marL="0">
              <a:buNone/>
            </a:pPr>
            <a:r>
              <a:rPr lang="en-US" sz="1500" b="1" dirty="0">
                <a:solidFill>
                  <a:srgbClr val="16232B"/>
                </a:solidFill>
                <a:latin typeface="Calibri" pitchFamily="34" charset="0"/>
                <a:ea typeface="Calibri" pitchFamily="34" charset="-122"/>
                <a:cs typeface="Calibri" pitchFamily="34" charset="-120"/>
              </a:rPr>
              <a:t>Medicare Part D</a:t>
            </a:r>
            <a:pPr indent="0" marL="0">
              <a:buNone/>
            </a:pPr>
            <a:r>
              <a:rPr lang="en-US" sz="1500" dirty="0">
                <a:solidFill>
                  <a:srgbClr val="16232B"/>
                </a:solidFill>
                <a:latin typeface="Calibri" pitchFamily="34" charset="0"/>
                <a:ea typeface="Calibri" pitchFamily="34" charset="-122"/>
                <a:cs typeface="Calibri" pitchFamily="34" charset="-120"/>
              </a:rPr>
              <a:t> is the prescription drug benefit for people on Medicare. CMS publishes, every year, what every prescriber in the country prescribed and what it cost.</a:t>
            </a:r>
            <a:endParaRPr lang="en-US" sz="1500" dirty="0"/>
          </a:p>
        </p:txBody>
      </p:sp>
      <p:sp>
        <p:nvSpPr>
          <p:cNvPr id="5" name="Text 3"/>
          <p:cNvSpPr/>
          <p:nvPr/>
        </p:nvSpPr>
        <p:spPr>
          <a:xfrm>
            <a:off x="594360" y="2743200"/>
            <a:ext cx="6766560" cy="1188720"/>
          </a:xfrm>
          <a:prstGeom prst="rect">
            <a:avLst/>
          </a:prstGeom>
          <a:noFill/>
          <a:ln/>
        </p:spPr>
        <p:txBody>
          <a:bodyPr wrap="square" lIns="0" tIns="0" rIns="0" bIns="0" rtlCol="0" anchor="t"/>
          <a:lstStyle/>
          <a:p>
            <a:pPr indent="0" marL="0">
              <a:spcAft>
                <a:spcPts val="600"/>
              </a:spcAft>
              <a:buNone/>
            </a:pPr>
            <a:r>
              <a:rPr lang="en-US" sz="1500" b="1" dirty="0">
                <a:solidFill>
                  <a:srgbClr val="16232B"/>
                </a:solidFill>
                <a:latin typeface="Calibri" pitchFamily="34" charset="0"/>
                <a:ea typeface="Calibri" pitchFamily="34" charset="-122"/>
                <a:cs typeface="Calibri" pitchFamily="34" charset="-120"/>
              </a:rPr>
              <a:t>The decision this project supports:</a:t>
            </a:r>
            <a:endParaRPr lang="en-US" sz="1500" dirty="0"/>
          </a:p>
          <a:p>
            <a:pPr indent="0" marL="0">
              <a:spcAft>
                <a:spcPts val="600"/>
              </a:spcAft>
              <a:buNone/>
            </a:pPr>
            <a:r>
              <a:rPr lang="en-US" sz="1500" dirty="0">
                <a:solidFill>
                  <a:srgbClr val="16232B"/>
                </a:solidFill>
                <a:latin typeface="Calibri" pitchFamily="34" charset="0"/>
                <a:ea typeface="Calibri" pitchFamily="34" charset="-122"/>
                <a:cs typeface="Calibri" pitchFamily="34" charset="-120"/>
              </a:rPr>
              <a:t>Which prescriber segments should a health system prioritize for outreach, education, or further review — and on what evidence?</a:t>
            </a:r>
            <a:endParaRPr lang="en-US" sz="1500" dirty="0"/>
          </a:p>
        </p:txBody>
      </p:sp>
      <p:sp>
        <p:nvSpPr>
          <p:cNvPr id="6" name="Shape 4"/>
          <p:cNvSpPr/>
          <p:nvPr/>
        </p:nvSpPr>
        <p:spPr>
          <a:xfrm>
            <a:off x="594360" y="4343400"/>
            <a:ext cx="6766560" cy="1051560"/>
          </a:xfrm>
          <a:prstGeom prst="roundRect">
            <a:avLst>
              <a:gd name="adj" fmla="val 6957"/>
            </a:avLst>
          </a:prstGeom>
          <a:solidFill>
            <a:srgbClr val="E8F4F1"/>
          </a:solidFill>
          <a:ln w="12700">
            <a:solidFill>
              <a:srgbClr val="E8F4F1"/>
            </a:solidFill>
            <a:prstDash val="solid"/>
          </a:ln>
        </p:spPr>
        <p:txBody>
          <a:bodyPr/>
          <a:p/>
        </p:txBody>
      </p:sp>
      <p:sp>
        <p:nvSpPr>
          <p:cNvPr id="7" name="Text 5"/>
          <p:cNvSpPr/>
          <p:nvPr/>
        </p:nvSpPr>
        <p:spPr>
          <a:xfrm>
            <a:off x="914400" y="4480560"/>
            <a:ext cx="6126480" cy="77724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The file is public and contains no patient identifiers — no PHI.</a:t>
            </a:r>
            <a:endParaRPr lang="en-US" sz="1400" dirty="0"/>
          </a:p>
        </p:txBody>
      </p:sp>
      <p:sp>
        <p:nvSpPr>
          <p:cNvPr id="8" name="Shape 6"/>
          <p:cNvSpPr/>
          <p:nvPr/>
        </p:nvSpPr>
        <p:spPr>
          <a:xfrm>
            <a:off x="7680960" y="1600200"/>
            <a:ext cx="3931920" cy="4160520"/>
          </a:xfrm>
          <a:prstGeom prst="roundRect">
            <a:avLst>
              <a:gd name="adj" fmla="val 1860"/>
            </a:avLst>
          </a:prstGeom>
          <a:solidFill>
            <a:srgbClr val="EDF3F6"/>
          </a:solidFill>
          <a:ln w="12700">
            <a:solidFill>
              <a:srgbClr val="EDF3F6"/>
            </a:solidFill>
            <a:prstDash val="solid"/>
          </a:ln>
        </p:spPr>
        <p:txBody>
          <a:bodyPr/>
          <a:p/>
        </p:txBody>
      </p:sp>
      <p:sp>
        <p:nvSpPr>
          <p:cNvPr id="9" name="Text 7"/>
          <p:cNvSpPr/>
          <p:nvPr/>
        </p:nvSpPr>
        <p:spPr>
          <a:xfrm>
            <a:off x="8001000" y="1783080"/>
            <a:ext cx="3291840" cy="365760"/>
          </a:xfrm>
          <a:prstGeom prst="rect">
            <a:avLst/>
          </a:prstGeom>
          <a:noFill/>
          <a:ln/>
        </p:spPr>
        <p:txBody>
          <a:bodyPr wrap="square" lIns="0" tIns="0" rIns="0" bIns="0" rtlCol="0" anchor="ctr"/>
          <a:lstStyle/>
          <a:p>
            <a:pPr indent="0" marL="0">
              <a:buNone/>
            </a:pPr>
            <a:r>
              <a:rPr lang="en-US" sz="1200" b="1" spc="100" kern="0" dirty="0">
                <a:solidFill>
                  <a:srgbClr val="1C7293"/>
                </a:solidFill>
                <a:latin typeface="Calibri" pitchFamily="34" charset="0"/>
                <a:ea typeface="Calibri" pitchFamily="34" charset="-122"/>
                <a:cs typeface="Calibri" pitchFamily="34" charset="-120"/>
              </a:rPr>
              <a:t>Colorado, 2024</a:t>
            </a:r>
            <a:endParaRPr lang="en-US" sz="1200" dirty="0"/>
          </a:p>
        </p:txBody>
      </p:sp>
      <p:sp>
        <p:nvSpPr>
          <p:cNvPr id="10" name="Text 8"/>
          <p:cNvSpPr/>
          <p:nvPr/>
        </p:nvSpPr>
        <p:spPr>
          <a:xfrm>
            <a:off x="8001000" y="2194560"/>
            <a:ext cx="3291840" cy="777240"/>
          </a:xfrm>
          <a:prstGeom prst="rect">
            <a:avLst/>
          </a:prstGeom>
          <a:noFill/>
          <a:ln/>
        </p:spPr>
        <p:txBody>
          <a:bodyPr wrap="square" lIns="0" tIns="0" rIns="0" bIns="0" rtlCol="0" anchor="ctr"/>
          <a:lstStyle/>
          <a:p>
            <a:pPr algn="l" indent="0" marL="0">
              <a:buNone/>
            </a:pPr>
            <a:r>
              <a:rPr lang="en-US" sz="3400" b="1" dirty="0">
                <a:solidFill>
                  <a:srgbClr val="065A82"/>
                </a:solidFill>
                <a:latin typeface="Cambria" pitchFamily="34" charset="0"/>
                <a:ea typeface="Cambria" pitchFamily="34" charset="-122"/>
                <a:cs typeface="Cambria" pitchFamily="34" charset="-120"/>
              </a:rPr>
              <a:t>$2.74B</a:t>
            </a:r>
            <a:endParaRPr lang="en-US" sz="3400" dirty="0"/>
          </a:p>
        </p:txBody>
      </p:sp>
      <p:sp>
        <p:nvSpPr>
          <p:cNvPr id="11" name="Text 9"/>
          <p:cNvSpPr/>
          <p:nvPr/>
        </p:nvSpPr>
        <p:spPr>
          <a:xfrm>
            <a:off x="8001000" y="2944368"/>
            <a:ext cx="3291840" cy="566928"/>
          </a:xfrm>
          <a:prstGeom prst="rect">
            <a:avLst/>
          </a:prstGeom>
          <a:noFill/>
          <a:ln/>
        </p:spPr>
        <p:txBody>
          <a:bodyPr wrap="square" lIns="0" tIns="0" rIns="0" bIns="0" rtlCol="0" anchor="t"/>
          <a:lstStyle/>
          <a:p>
            <a:pPr algn="l" indent="0" marL="0">
              <a:buNone/>
            </a:pPr>
            <a:r>
              <a:rPr lang="en-US" sz="1200" dirty="0">
                <a:solidFill>
                  <a:srgbClr val="5C7480"/>
                </a:solidFill>
                <a:latin typeface="Calibri" pitchFamily="34" charset="0"/>
                <a:ea typeface="Calibri" pitchFamily="34" charset="-122"/>
                <a:cs typeface="Calibri" pitchFamily="34" charset="-120"/>
              </a:rPr>
              <a:t>total Part D drug cost</a:t>
            </a:r>
            <a:endParaRPr lang="en-US" sz="1200" dirty="0"/>
          </a:p>
        </p:txBody>
      </p:sp>
      <p:sp>
        <p:nvSpPr>
          <p:cNvPr id="12" name="Text 10"/>
          <p:cNvSpPr/>
          <p:nvPr/>
        </p:nvSpPr>
        <p:spPr>
          <a:xfrm>
            <a:off x="8001000" y="3337560"/>
            <a:ext cx="3291840" cy="777240"/>
          </a:xfrm>
          <a:prstGeom prst="rect">
            <a:avLst/>
          </a:prstGeom>
          <a:noFill/>
          <a:ln/>
        </p:spPr>
        <p:txBody>
          <a:bodyPr wrap="square" lIns="0" tIns="0" rIns="0" bIns="0" rtlCol="0" anchor="ctr"/>
          <a:lstStyle/>
          <a:p>
            <a:pPr algn="l" indent="0" marL="0">
              <a:buNone/>
            </a:pPr>
            <a:r>
              <a:rPr lang="en-US" sz="3400" b="1" dirty="0">
                <a:solidFill>
                  <a:srgbClr val="065A82"/>
                </a:solidFill>
                <a:latin typeface="Cambria" pitchFamily="34" charset="0"/>
                <a:ea typeface="Cambria" pitchFamily="34" charset="-122"/>
                <a:cs typeface="Cambria" pitchFamily="34" charset="-120"/>
              </a:rPr>
              <a:t>19,390</a:t>
            </a:r>
            <a:endParaRPr lang="en-US" sz="3400" dirty="0"/>
          </a:p>
        </p:txBody>
      </p:sp>
      <p:sp>
        <p:nvSpPr>
          <p:cNvPr id="13" name="Text 11"/>
          <p:cNvSpPr/>
          <p:nvPr/>
        </p:nvSpPr>
        <p:spPr>
          <a:xfrm>
            <a:off x="8001000" y="4087368"/>
            <a:ext cx="3291840" cy="566928"/>
          </a:xfrm>
          <a:prstGeom prst="rect">
            <a:avLst/>
          </a:prstGeom>
          <a:noFill/>
          <a:ln/>
        </p:spPr>
        <p:txBody>
          <a:bodyPr wrap="square" lIns="0" tIns="0" rIns="0" bIns="0" rtlCol="0" anchor="t"/>
          <a:lstStyle/>
          <a:p>
            <a:pPr algn="l" indent="0" marL="0">
              <a:buNone/>
            </a:pPr>
            <a:r>
              <a:rPr lang="en-US" sz="1200" dirty="0">
                <a:solidFill>
                  <a:srgbClr val="5C7480"/>
                </a:solidFill>
                <a:latin typeface="Calibri" pitchFamily="34" charset="0"/>
                <a:ea typeface="Calibri" pitchFamily="34" charset="-122"/>
                <a:cs typeface="Calibri" pitchFamily="34" charset="-120"/>
              </a:rPr>
              <a:t>prescribers</a:t>
            </a:r>
            <a:endParaRPr lang="en-US" sz="1200" dirty="0"/>
          </a:p>
        </p:txBody>
      </p:sp>
      <p:sp>
        <p:nvSpPr>
          <p:cNvPr id="14" name="Text 12"/>
          <p:cNvSpPr/>
          <p:nvPr/>
        </p:nvSpPr>
        <p:spPr>
          <a:xfrm>
            <a:off x="8001000" y="4480560"/>
            <a:ext cx="3291840" cy="777240"/>
          </a:xfrm>
          <a:prstGeom prst="rect">
            <a:avLst/>
          </a:prstGeom>
          <a:noFill/>
          <a:ln/>
        </p:spPr>
        <p:txBody>
          <a:bodyPr wrap="square" lIns="0" tIns="0" rIns="0" bIns="0" rtlCol="0" anchor="ctr"/>
          <a:lstStyle/>
          <a:p>
            <a:pPr algn="l" indent="0" marL="0">
              <a:buNone/>
            </a:pPr>
            <a:r>
              <a:rPr lang="en-US" sz="3400" b="1" dirty="0">
                <a:solidFill>
                  <a:srgbClr val="065A82"/>
                </a:solidFill>
                <a:latin typeface="Cambria" pitchFamily="34" charset="0"/>
                <a:ea typeface="Cambria" pitchFamily="34" charset="-122"/>
                <a:cs typeface="Cambria" pitchFamily="34" charset="-120"/>
              </a:rPr>
              <a:t>1,177</a:t>
            </a:r>
            <a:endParaRPr lang="en-US" sz="3400" dirty="0"/>
          </a:p>
        </p:txBody>
      </p:sp>
      <p:sp>
        <p:nvSpPr>
          <p:cNvPr id="15" name="Text 13"/>
          <p:cNvSpPr/>
          <p:nvPr/>
        </p:nvSpPr>
        <p:spPr>
          <a:xfrm>
            <a:off x="8001000" y="5230368"/>
            <a:ext cx="3291840" cy="566928"/>
          </a:xfrm>
          <a:prstGeom prst="rect">
            <a:avLst/>
          </a:prstGeom>
          <a:noFill/>
          <a:ln/>
        </p:spPr>
        <p:txBody>
          <a:bodyPr wrap="square" lIns="0" tIns="0" rIns="0" bIns="0" rtlCol="0" anchor="t"/>
          <a:lstStyle/>
          <a:p>
            <a:pPr algn="l" indent="0" marL="0">
              <a:buNone/>
            </a:pPr>
            <a:r>
              <a:rPr lang="en-US" sz="1200" dirty="0">
                <a:solidFill>
                  <a:srgbClr val="5C7480"/>
                </a:solidFill>
                <a:latin typeface="Calibri" pitchFamily="34" charset="0"/>
                <a:ea typeface="Calibri" pitchFamily="34" charset="-122"/>
                <a:cs typeface="Calibri" pitchFamily="34" charset="-120"/>
              </a:rPr>
              <a:t>generic drugs</a:t>
            </a:r>
            <a:endParaRPr lang="en-US" sz="1200" dirty="0"/>
          </a:p>
        </p:txBody>
      </p:sp>
      <p:sp>
        <p:nvSpPr>
          <p:cNvPr id="16" name="Text 14"/>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Source: CMS Medicare Part D Prescribers by Provider and Drug, 2024 Colorado extract (data.cms.gov). Figures: FINDINGS.md.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CHOICE BEHIND THE ANALYSIS</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There are two ways to build a review list</a:t>
            </a:r>
            <a:endParaRPr lang="en-US" sz="3200" dirty="0"/>
          </a:p>
        </p:txBody>
      </p:sp>
      <p:sp>
        <p:nvSpPr>
          <p:cNvPr id="4" name="Shape 2"/>
          <p:cNvSpPr/>
          <p:nvPr/>
        </p:nvSpPr>
        <p:spPr>
          <a:xfrm>
            <a:off x="594360" y="1600200"/>
            <a:ext cx="5349240" cy="3291840"/>
          </a:xfrm>
          <a:prstGeom prst="roundRect">
            <a:avLst>
              <a:gd name="adj" fmla="val 2222"/>
            </a:avLst>
          </a:prstGeom>
          <a:solidFill>
            <a:srgbClr val="EDF3F6"/>
          </a:solidFill>
          <a:ln w="12700">
            <a:solidFill>
              <a:srgbClr val="EDF3F6"/>
            </a:solidFill>
            <a:prstDash val="solid"/>
          </a:ln>
        </p:spPr>
        <p:txBody>
          <a:bodyPr/>
          <a:p/>
        </p:txBody>
      </p:sp>
      <p:sp>
        <p:nvSpPr>
          <p:cNvPr id="5" name="Shape 3"/>
          <p:cNvSpPr/>
          <p:nvPr/>
        </p:nvSpPr>
        <p:spPr>
          <a:xfrm>
            <a:off x="6263640" y="1600200"/>
            <a:ext cx="5349240" cy="3291840"/>
          </a:xfrm>
          <a:prstGeom prst="roundRect">
            <a:avLst>
              <a:gd name="adj" fmla="val 2222"/>
            </a:avLst>
          </a:prstGeom>
          <a:solidFill>
            <a:srgbClr val="E8F4F1"/>
          </a:solidFill>
          <a:ln w="12700">
            <a:solidFill>
              <a:srgbClr val="E8F4F1"/>
            </a:solidFill>
            <a:prstDash val="solid"/>
          </a:ln>
        </p:spPr>
        <p:txBody>
          <a:bodyPr/>
          <a:p/>
        </p:txBody>
      </p:sp>
      <p:sp>
        <p:nvSpPr>
          <p:cNvPr id="6" name="Shape 4"/>
          <p:cNvSpPr/>
          <p:nvPr/>
        </p:nvSpPr>
        <p:spPr>
          <a:xfrm>
            <a:off x="914400" y="1874520"/>
            <a:ext cx="502920" cy="502920"/>
          </a:xfrm>
          <a:prstGeom prst="ellipse">
            <a:avLst/>
          </a:prstGeom>
          <a:solidFill>
            <a:srgbClr val="5C7480"/>
          </a:solidFill>
          <a:ln w="12700">
            <a:solidFill>
              <a:srgbClr val="5C7480"/>
            </a:solidFill>
            <a:prstDash val="solid"/>
          </a:ln>
        </p:spPr>
        <p:txBody>
          <a:bodyPr/>
          <a:p/>
        </p:txBody>
      </p:sp>
      <p:sp>
        <p:nvSpPr>
          <p:cNvPr id="7" name="Text 5"/>
          <p:cNvSpPr/>
          <p:nvPr/>
        </p:nvSpPr>
        <p:spPr>
          <a:xfrm>
            <a:off x="914400" y="18745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8" name="Shape 6"/>
          <p:cNvSpPr/>
          <p:nvPr/>
        </p:nvSpPr>
        <p:spPr>
          <a:xfrm>
            <a:off x="6583680" y="1874520"/>
            <a:ext cx="502920" cy="502920"/>
          </a:xfrm>
          <a:prstGeom prst="ellipse">
            <a:avLst/>
          </a:prstGeom>
          <a:solidFill>
            <a:srgbClr val="00A896"/>
          </a:solidFill>
          <a:ln w="12700">
            <a:solidFill>
              <a:srgbClr val="00A896"/>
            </a:solidFill>
            <a:prstDash val="solid"/>
          </a:ln>
        </p:spPr>
        <p:txBody>
          <a:bodyPr/>
          <a:p/>
        </p:txBody>
      </p:sp>
      <p:sp>
        <p:nvSpPr>
          <p:cNvPr id="9" name="Text 7"/>
          <p:cNvSpPr/>
          <p:nvPr/>
        </p:nvSpPr>
        <p:spPr>
          <a:xfrm>
            <a:off x="6583680" y="18745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0" name="Text 8"/>
          <p:cNvSpPr/>
          <p:nvPr/>
        </p:nvSpPr>
        <p:spPr>
          <a:xfrm>
            <a:off x="1554480" y="1874520"/>
            <a:ext cx="4114800" cy="502920"/>
          </a:xfrm>
          <a:prstGeom prst="rect">
            <a:avLst/>
          </a:prstGeom>
          <a:noFill/>
          <a:ln/>
        </p:spPr>
        <p:txBody>
          <a:bodyPr wrap="square" lIns="0" tIns="0" rIns="0" bIns="0" rtlCol="0" anchor="ctr"/>
          <a:lstStyle/>
          <a:p>
            <a:pPr indent="0" marL="0">
              <a:buNone/>
            </a:pPr>
            <a:r>
              <a:rPr lang="en-US" sz="2000" b="1" dirty="0">
                <a:solidFill>
                  <a:srgbClr val="16232B"/>
                </a:solidFill>
                <a:latin typeface="Cambria" pitchFamily="34" charset="0"/>
                <a:ea typeface="Cambria" pitchFamily="34" charset="-122"/>
                <a:cs typeface="Cambria" pitchFamily="34" charset="-120"/>
              </a:rPr>
              <a:t>Rank everyone statewide</a:t>
            </a:r>
            <a:endParaRPr lang="en-US" sz="2000" dirty="0"/>
          </a:p>
        </p:txBody>
      </p:sp>
      <p:sp>
        <p:nvSpPr>
          <p:cNvPr id="11" name="Text 9"/>
          <p:cNvSpPr/>
          <p:nvPr/>
        </p:nvSpPr>
        <p:spPr>
          <a:xfrm>
            <a:off x="7223760" y="1828800"/>
            <a:ext cx="4206240" cy="640080"/>
          </a:xfrm>
          <a:prstGeom prst="rect">
            <a:avLst/>
          </a:prstGeom>
          <a:noFill/>
          <a:ln/>
        </p:spPr>
        <p:txBody>
          <a:bodyPr wrap="square" lIns="0" tIns="0" rIns="0" bIns="0" rtlCol="0" anchor="ctr"/>
          <a:lstStyle/>
          <a:p>
            <a:pPr indent="0" marL="0">
              <a:buNone/>
            </a:pPr>
            <a:r>
              <a:rPr lang="en-US" sz="2000" b="1" dirty="0">
                <a:solidFill>
                  <a:srgbClr val="16232B"/>
                </a:solidFill>
                <a:latin typeface="Cambria" pitchFamily="34" charset="0"/>
                <a:ea typeface="Cambria" pitchFamily="34" charset="-122"/>
                <a:cs typeface="Cambria" pitchFamily="34" charset="-120"/>
              </a:rPr>
              <a:t>Compare each prescriber to their own specialty</a:t>
            </a:r>
            <a:endParaRPr lang="en-US" sz="2000" dirty="0"/>
          </a:p>
        </p:txBody>
      </p:sp>
      <p:sp>
        <p:nvSpPr>
          <p:cNvPr id="12" name="Text 10"/>
          <p:cNvSpPr/>
          <p:nvPr/>
        </p:nvSpPr>
        <p:spPr>
          <a:xfrm>
            <a:off x="914400" y="2606040"/>
            <a:ext cx="4709160" cy="2834640"/>
          </a:xfrm>
          <a:prstGeom prst="rect">
            <a:avLst/>
          </a:prstGeom>
          <a:noFill/>
          <a:ln/>
        </p:spPr>
        <p:txBody>
          <a:bodyPr wrap="square" lIns="0" tIns="0" rIns="0" bIns="0" rtlCol="0" anchor="t"/>
          <a:lstStyle/>
          <a:p>
            <a:pPr indent="0" marL="0">
              <a:buNone/>
            </a:pPr>
            <a:r>
              <a:rPr lang="en-US" sz="1400" dirty="0">
                <a:solidFill>
                  <a:srgbClr val="16232B"/>
                </a:solidFill>
                <a:latin typeface="Calibri" pitchFamily="34" charset="0"/>
                <a:ea typeface="Calibri" pitchFamily="34" charset="-122"/>
                <a:cs typeface="Calibri" pitchFamily="34" charset="-120"/>
              </a:rPr>
              <a:t>Sort all 19,390 prescribers by spend, or by cost per prescription, and take the top of the list.</a:t>
            </a:r>
            <a:endParaRPr lang="en-US" sz="1400" dirty="0"/>
          </a:p>
          <a:p>
            <a:pPr indent="0" marL="0">
              <a:buNone/>
            </a:pPr>
            <a:r>
              <a:rPr lang="en-US" sz="1400" b="1" dirty="0">
                <a:solidFill>
                  <a:srgbClr val="16232B"/>
                </a:solidFill>
                <a:latin typeface="Calibri" pitchFamily="34" charset="0"/>
                <a:ea typeface="Calibri" pitchFamily="34" charset="-122"/>
                <a:cs typeface="Calibri" pitchFamily="34" charset="-120"/>
              </a:rPr>
              <a:t>Simple. Fast. It is what most programs do.</a:t>
            </a:r>
            <a:endParaRPr lang="en-US" sz="1400" dirty="0"/>
          </a:p>
          <a:p>
            <a:pPr indent="0" marL="0">
              <a:buNone/>
            </a:pPr>
            <a:endParaRPr lang="en-US" sz="1400" dirty="0"/>
          </a:p>
          <a:p>
            <a:pPr indent="0" marL="0">
              <a:buNone/>
            </a:pPr>
            <a:r>
              <a:rPr lang="en-US" sz="1400" dirty="0">
                <a:solidFill>
                  <a:srgbClr val="16232B"/>
                </a:solidFill>
                <a:latin typeface="Calibri" pitchFamily="34" charset="0"/>
                <a:ea typeface="Calibri" pitchFamily="34" charset="-122"/>
                <a:cs typeface="Calibri" pitchFamily="34" charset="-120"/>
              </a:rPr>
              <a:t>But an oncologist and a dentist end up on the same list. The ranking is measuring what kind of medicine you practice, not how you practice it.</a:t>
            </a:r>
            <a:endParaRPr lang="en-US" sz="1400" dirty="0"/>
          </a:p>
        </p:txBody>
      </p:sp>
      <p:sp>
        <p:nvSpPr>
          <p:cNvPr id="13" name="Text 11"/>
          <p:cNvSpPr/>
          <p:nvPr/>
        </p:nvSpPr>
        <p:spPr>
          <a:xfrm>
            <a:off x="6583680" y="2606040"/>
            <a:ext cx="4709160" cy="2834640"/>
          </a:xfrm>
          <a:prstGeom prst="rect">
            <a:avLst/>
          </a:prstGeom>
          <a:noFill/>
          <a:ln/>
        </p:spPr>
        <p:txBody>
          <a:bodyPr wrap="square" lIns="0" tIns="0" rIns="0" bIns="0" rtlCol="0" anchor="t"/>
          <a:lstStyle/>
          <a:p>
            <a:pPr indent="0" marL="0">
              <a:buNone/>
            </a:pPr>
            <a:r>
              <a:rPr lang="en-US" sz="1400" dirty="0">
                <a:solidFill>
                  <a:srgbClr val="16232B"/>
                </a:solidFill>
                <a:latin typeface="Calibri" pitchFamily="34" charset="0"/>
                <a:ea typeface="Calibri" pitchFamily="34" charset="-122"/>
                <a:cs typeface="Calibri" pitchFamily="34" charset="-120"/>
              </a:rPr>
              <a:t>Rank each prescriber only against peers in the same specialty, then flag the ones sitting above their own peer group.</a:t>
            </a:r>
            <a:endParaRPr lang="en-US" sz="1400" dirty="0"/>
          </a:p>
          <a:p>
            <a:pPr indent="0" marL="0">
              <a:buNone/>
            </a:pPr>
            <a:r>
              <a:rPr lang="en-US" sz="1400" b="1" dirty="0">
                <a:solidFill>
                  <a:srgbClr val="16232B"/>
                </a:solidFill>
                <a:latin typeface="Calibri" pitchFamily="34" charset="0"/>
                <a:ea typeface="Calibri" pitchFamily="34" charset="-122"/>
                <a:cs typeface="Calibri" pitchFamily="34" charset="-120"/>
              </a:rPr>
              <a:t>Harder to build. Requires the full file.</a:t>
            </a:r>
            <a:endParaRPr lang="en-US" sz="1400" dirty="0"/>
          </a:p>
          <a:p>
            <a:pPr indent="0" marL="0">
              <a:buNone/>
            </a:pPr>
            <a:endParaRPr lang="en-US" sz="1400" dirty="0"/>
          </a:p>
          <a:p>
            <a:pPr indent="0" marL="0">
              <a:buNone/>
            </a:pPr>
            <a:r>
              <a:rPr lang="en-US" sz="1400" dirty="0">
                <a:solidFill>
                  <a:srgbClr val="16232B"/>
                </a:solidFill>
                <a:latin typeface="Calibri" pitchFamily="34" charset="0"/>
                <a:ea typeface="Calibri" pitchFamily="34" charset="-122"/>
                <a:cs typeface="Calibri" pitchFamily="34" charset="-120"/>
              </a:rPr>
              <a:t>A family practice clinician is compared to family practice, an oncologist to oncology. Case mix is held roughly constant.</a:t>
            </a:r>
            <a:endParaRPr lang="en-US" sz="1400" dirty="0"/>
          </a:p>
        </p:txBody>
      </p:sp>
      <p:sp>
        <p:nvSpPr>
          <p:cNvPr id="14" name="Text 12"/>
          <p:cNvSpPr/>
          <p:nvPr/>
        </p:nvSpPr>
        <p:spPr>
          <a:xfrm>
            <a:off x="594360" y="5166360"/>
            <a:ext cx="11018520" cy="411480"/>
          </a:xfrm>
          <a:prstGeom prst="rect">
            <a:avLst/>
          </a:prstGeom>
          <a:noFill/>
          <a:ln/>
        </p:spPr>
        <p:txBody>
          <a:bodyPr wrap="square" lIns="0" tIns="0" rIns="0" bIns="0" rtlCol="0" anchor="ctr"/>
          <a:lstStyle/>
          <a:p>
            <a:pPr indent="0" marL="0">
              <a:buNone/>
            </a:pPr>
            <a:r>
              <a:rPr lang="en-US" sz="1400" b="1" i="1" dirty="0">
                <a:solidFill>
                  <a:srgbClr val="065A82"/>
                </a:solidFill>
                <a:latin typeface="Calibri" pitchFamily="34" charset="0"/>
                <a:ea typeface="Calibri" pitchFamily="34" charset="-122"/>
                <a:cs typeface="Calibri" pitchFamily="34" charset="-120"/>
              </a:rPr>
              <a:t>This project tests whether the harder list is worth building.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DATA AND PREPARATION</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One file, 390,473 rows, and nothing thrown away</a:t>
            </a:r>
            <a:endParaRPr lang="en-US" sz="3200" dirty="0"/>
          </a:p>
        </p:txBody>
      </p:sp>
      <p:sp>
        <p:nvSpPr>
          <p:cNvPr id="4" name="Text 2"/>
          <p:cNvSpPr/>
          <p:nvPr/>
        </p:nvSpPr>
        <p:spPr>
          <a:xfrm>
            <a:off x="594360" y="1463040"/>
            <a:ext cx="6035040" cy="420624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16232B"/>
                </a:solidFill>
                <a:latin typeface="Calibri" pitchFamily="34" charset="0"/>
                <a:ea typeface="Calibri" pitchFamily="34" charset="-122"/>
                <a:cs typeface="Calibri" pitchFamily="34" charset="-120"/>
              </a:rPr>
              <a:t>One row per prescriber, per brand, per generic drug — 22 columns covering claims, 30-day fills, day supply, drug cost, and beneficiary counts.</a:t>
            </a:r>
            <a:endParaRPr lang="en-US" sz="1400" dirty="0"/>
          </a:p>
          <a:p>
            <a:pPr marL="177800" indent="-177800">
              <a:spcAft>
                <a:spcPts val="900"/>
              </a:spcAft>
              <a:buSzPct val="100000"/>
              <a:buChar char="•"/>
            </a:pPr>
            <a:r>
              <a:rPr lang="en-US" sz="1400" dirty="0">
                <a:solidFill>
                  <a:srgbClr val="16232B"/>
                </a:solidFill>
                <a:latin typeface="Calibri" pitchFamily="34" charset="0"/>
                <a:ea typeface="Calibri" pitchFamily="34" charset="-122"/>
                <a:cs typeface="Calibri" pitchFamily="34" charset="-120"/>
              </a:rPr>
              <a:t>100% of rows are Colorado. The extract is pre-filtered, so no state filter was applied.</a:t>
            </a:r>
            <a:endParaRPr lang="en-US" sz="1400" dirty="0"/>
          </a:p>
          <a:p>
            <a:pPr marL="177800" indent="-177800">
              <a:spcAft>
                <a:spcPts val="900"/>
              </a:spcAft>
              <a:buSzPct val="100000"/>
              <a:buChar char="•"/>
            </a:pPr>
            <a:r>
              <a:rPr lang="en-US" sz="1400" dirty="0">
                <a:solidFill>
                  <a:srgbClr val="16232B"/>
                </a:solidFill>
                <a:latin typeface="Calibri" pitchFamily="34" charset="0"/>
                <a:ea typeface="Calibri" pitchFamily="34" charset="-122"/>
                <a:cs typeface="Calibri" pitchFamily="34" charset="-120"/>
              </a:rPr>
              <a:t>Ten numeric columns loaded as text and were converted to numbers. No value failed to parse.</a:t>
            </a:r>
            <a:endParaRPr lang="en-US" sz="1400" dirty="0"/>
          </a:p>
          <a:p>
            <a:pPr marL="177800" indent="-177800">
              <a:spcAft>
                <a:spcPts val="900"/>
              </a:spcAft>
              <a:buSzPct val="100000"/>
              <a:buChar char="•"/>
            </a:pPr>
            <a:r>
              <a:rPr lang="en-US" sz="1400" dirty="0">
                <a:solidFill>
                  <a:srgbClr val="16232B"/>
                </a:solidFill>
                <a:latin typeface="Calibri" pitchFamily="34" charset="0"/>
                <a:ea typeface="Calibri" pitchFamily="34" charset="-122"/>
                <a:cs typeface="Calibri" pitchFamily="34" charset="-120"/>
              </a:rPr>
              <a:t>Zero duplicate rows, and zero prescribers mapped to two different specialties or two different cities.</a:t>
            </a:r>
            <a:endParaRPr lang="en-US" sz="1400" dirty="0"/>
          </a:p>
          <a:p>
            <a:pPr marL="177800" indent="-177800">
              <a:spcAft>
                <a:spcPts val="900"/>
              </a:spcAft>
              <a:buSzPct val="100000"/>
              <a:buChar char="•"/>
            </a:pPr>
            <a:r>
              <a:rPr lang="en-US" sz="1400" dirty="0">
                <a:solidFill>
                  <a:srgbClr val="16232B"/>
                </a:solidFill>
                <a:latin typeface="Calibri" pitchFamily="34" charset="0"/>
                <a:ea typeface="Calibri" pitchFamily="34" charset="-122"/>
                <a:cs typeface="Calibri" pitchFamily="34" charset="-120"/>
              </a:rPr>
              <a:t>Every blank was left blank. Nothing was imputed, filled, or dropped — blanks in this file are CMS privacy suppressions, not errors.</a:t>
            </a:r>
            <a:endParaRPr lang="en-US" sz="1400" dirty="0"/>
          </a:p>
        </p:txBody>
      </p:sp>
      <p:sp>
        <p:nvSpPr>
          <p:cNvPr id="5" name="Shape 3"/>
          <p:cNvSpPr/>
          <p:nvPr/>
        </p:nvSpPr>
        <p:spPr>
          <a:xfrm>
            <a:off x="7040880" y="1554480"/>
            <a:ext cx="4572000" cy="3200400"/>
          </a:xfrm>
          <a:prstGeom prst="roundRect">
            <a:avLst>
              <a:gd name="adj" fmla="val 2286"/>
            </a:avLst>
          </a:prstGeom>
          <a:solidFill>
            <a:srgbClr val="EDF3F6"/>
          </a:solidFill>
          <a:ln w="12700">
            <a:solidFill>
              <a:srgbClr val="EDF3F6"/>
            </a:solidFill>
            <a:prstDash val="solid"/>
          </a:ln>
        </p:spPr>
        <p:txBody>
          <a:bodyPr/>
          <a:p/>
        </p:txBody>
      </p:sp>
      <p:sp>
        <p:nvSpPr>
          <p:cNvPr id="6" name="Text 4"/>
          <p:cNvSpPr/>
          <p:nvPr/>
        </p:nvSpPr>
        <p:spPr>
          <a:xfrm>
            <a:off x="7360920" y="1737360"/>
            <a:ext cx="3931920" cy="365760"/>
          </a:xfrm>
          <a:prstGeom prst="rect">
            <a:avLst/>
          </a:prstGeom>
          <a:noFill/>
          <a:ln/>
        </p:spPr>
        <p:txBody>
          <a:bodyPr wrap="square" lIns="0" tIns="0" rIns="0" bIns="0" rtlCol="0" anchor="ctr"/>
          <a:lstStyle/>
          <a:p>
            <a:pPr indent="0" marL="0">
              <a:buNone/>
            </a:pPr>
            <a:r>
              <a:rPr lang="en-US" sz="1200" b="1" spc="100" kern="0" dirty="0">
                <a:solidFill>
                  <a:srgbClr val="1C7293"/>
                </a:solidFill>
                <a:latin typeface="Calibri" pitchFamily="34" charset="0"/>
                <a:ea typeface="Calibri" pitchFamily="34" charset="-122"/>
                <a:cs typeface="Calibri" pitchFamily="34" charset="-120"/>
              </a:rPr>
              <a:t>Reconciliation</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60920" y="2194560"/>
          <a:ext cx="3931920" cy="914400"/>
        </p:xfrm>
        <a:graphic>
          <a:graphicData uri="http://schemas.openxmlformats.org/drawingml/2006/table">
            <a:tbl>
              <a:tblPr/>
              <a:tblGrid>
                <a:gridCol w="1737360"/>
                <a:gridCol w="1097280"/>
                <a:gridCol w="1097280"/>
              </a:tblGrid>
              <a:tr h="310896">
                <a:tc>
                  <a:txBody>
                    <a:bodyPr/>
                    <a:lstStyle/>
                    <a:p>
                      <a:pPr indent="0" marL="0">
                        <a:buNone/>
                      </a:pPr>
                      <a:r>
                        <a:rPr lang="en-US" sz="1100" b="1" dirty="0">
                          <a:solidFill>
                            <a:srgbClr val="16232B"/>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Raw</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Cleaned</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r>
              <a:tr h="310896">
                <a:tc>
                  <a:txBody>
                    <a:bodyPr/>
                    <a:lstStyle/>
                    <a:p>
                      <a:pPr indent="0" marL="0">
                        <a:buNone/>
                      </a:pPr>
                      <a:r>
                        <a:rPr lang="en-US" sz="1100" dirty="0">
                          <a:solidFill>
                            <a:srgbClr val="16232B"/>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390,473</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390,473</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r>
              <a:tr h="310896">
                <a:tc>
                  <a:txBody>
                    <a:bodyPr/>
                    <a:lstStyle/>
                    <a:p>
                      <a:pPr indent="0" marL="0">
                        <a:buNone/>
                      </a:pPr>
                      <a:r>
                        <a:rPr lang="en-US" sz="1100" dirty="0">
                          <a:solidFill>
                            <a:srgbClr val="16232B"/>
                          </a:solidFill>
                          <a:latin typeface="Calibri" pitchFamily="34" charset="0"/>
                          <a:ea typeface="Calibri" pitchFamily="34" charset="-122"/>
                          <a:cs typeface="Calibri" pitchFamily="34" charset="-120"/>
                        </a:rPr>
                        <a:t>Drug cost</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$2.7375B</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$2.7375B</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r>
              <a:tr h="310896">
                <a:tc>
                  <a:txBody>
                    <a:bodyPr/>
                    <a:lstStyle/>
                    <a:p>
                      <a:pPr indent="0" marL="0">
                        <a:buNone/>
                      </a:pPr>
                      <a:r>
                        <a:rPr lang="en-US" sz="1100" dirty="0">
                          <a:solidFill>
                            <a:srgbClr val="16232B"/>
                          </a:solidFill>
                          <a:latin typeface="Calibri" pitchFamily="34" charset="0"/>
                          <a:ea typeface="Calibri" pitchFamily="34" charset="-122"/>
                          <a:cs typeface="Calibri" pitchFamily="34" charset="-120"/>
                        </a:rPr>
                        <a:t>Claims</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16,573,710</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16,573,710</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r>
              <a:tr h="310896">
                <a:tc>
                  <a:txBody>
                    <a:bodyPr/>
                    <a:lstStyle/>
                    <a:p>
                      <a:pPr indent="0" marL="0">
                        <a:buNone/>
                      </a:pPr>
                      <a:r>
                        <a:rPr lang="en-US" sz="1100" dirty="0">
                          <a:solidFill>
                            <a:srgbClr val="16232B"/>
                          </a:solidFill>
                          <a:latin typeface="Calibri" pitchFamily="34" charset="0"/>
                          <a:ea typeface="Calibri" pitchFamily="34" charset="-122"/>
                          <a:cs typeface="Calibri" pitchFamily="34" charset="-120"/>
                        </a:rPr>
                        <a:t>Prescribers</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19,390</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19,390</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r>
              <a:tr h="310896">
                <a:tc>
                  <a:txBody>
                    <a:bodyPr/>
                    <a:lstStyle/>
                    <a:p>
                      <a:pPr indent="0" marL="0">
                        <a:buNone/>
                      </a:pPr>
                      <a:r>
                        <a:rPr lang="en-US" sz="1100" dirty="0">
                          <a:solidFill>
                            <a:srgbClr val="16232B"/>
                          </a:solidFill>
                          <a:latin typeface="Calibri" pitchFamily="34" charset="0"/>
                          <a:ea typeface="Calibri" pitchFamily="34" charset="-122"/>
                          <a:cs typeface="Calibri" pitchFamily="34" charset="-120"/>
                        </a:rPr>
                        <a:t>Specialties</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r>
            </a:tbl>
          </a:graphicData>
        </a:graphic>
      </p:graphicFrame>
      <p:sp>
        <p:nvSpPr>
          <p:cNvPr id="8" name="Text 5"/>
          <p:cNvSpPr/>
          <p:nvPr/>
        </p:nvSpPr>
        <p:spPr>
          <a:xfrm>
            <a:off x="7360920" y="4224528"/>
            <a:ext cx="3931920" cy="411480"/>
          </a:xfrm>
          <a:prstGeom prst="rect">
            <a:avLst/>
          </a:prstGeom>
          <a:noFill/>
          <a:ln/>
        </p:spPr>
        <p:txBody>
          <a:bodyPr wrap="square" lIns="0" tIns="0" rIns="0" bIns="0" rtlCol="0" anchor="ctr"/>
          <a:lstStyle/>
          <a:p>
            <a:pPr indent="0" marL="0">
              <a:buNone/>
            </a:pPr>
            <a:r>
              <a:rPr lang="en-US" sz="1200" b="1" i="1" dirty="0">
                <a:solidFill>
                  <a:srgbClr val="065A82"/>
                </a:solidFill>
                <a:latin typeface="Calibri" pitchFamily="34" charset="0"/>
                <a:ea typeface="Calibri" pitchFamily="34" charset="-122"/>
                <a:cs typeface="Calibri" pitchFamily="34" charset="-120"/>
              </a:rPr>
              <a:t>390,473 in, 390,473 out. No delta to explain.</a:t>
            </a:r>
            <a:endParaRPr lang="en-US" sz="1200" dirty="0"/>
          </a:p>
        </p:txBody>
      </p:sp>
      <p:sp>
        <p:nvSpPr>
          <p:cNvPr id="9" name="Shape 6"/>
          <p:cNvSpPr/>
          <p:nvPr/>
        </p:nvSpPr>
        <p:spPr>
          <a:xfrm>
            <a:off x="7040880" y="4983480"/>
            <a:ext cx="4572000" cy="868680"/>
          </a:xfrm>
          <a:prstGeom prst="roundRect">
            <a:avLst>
              <a:gd name="adj" fmla="val 8421"/>
            </a:avLst>
          </a:prstGeom>
          <a:solidFill>
            <a:srgbClr val="E8F4F1"/>
          </a:solidFill>
          <a:ln w="12700">
            <a:solidFill>
              <a:srgbClr val="E8F4F1"/>
            </a:solidFill>
            <a:prstDash val="solid"/>
          </a:ln>
        </p:spPr>
        <p:txBody>
          <a:bodyPr/>
          <a:p/>
        </p:txBody>
      </p:sp>
      <p:sp>
        <p:nvSpPr>
          <p:cNvPr id="10" name="Text 7"/>
          <p:cNvSpPr/>
          <p:nvPr/>
        </p:nvSpPr>
        <p:spPr>
          <a:xfrm>
            <a:off x="7360920" y="5120640"/>
            <a:ext cx="3931920" cy="594360"/>
          </a:xfrm>
          <a:prstGeom prst="rect">
            <a:avLst/>
          </a:prstGeom>
          <a:noFill/>
          <a:ln/>
        </p:spPr>
        <p:txBody>
          <a:bodyPr wrap="square" lIns="0" tIns="0" rIns="0" bIns="0" rtlCol="0" anchor="ctr"/>
          <a:lstStyle/>
          <a:p>
            <a:pPr indent="0" marL="0">
              <a:buNone/>
            </a:pPr>
            <a:r>
              <a:rPr lang="en-US" sz="1200" dirty="0">
                <a:solidFill>
                  <a:srgbClr val="16232B"/>
                </a:solidFill>
                <a:latin typeface="Calibri" pitchFamily="34" charset="0"/>
                <a:ea typeface="Calibri" pitchFamily="34" charset="-122"/>
                <a:cs typeface="Calibri" pitchFamily="34" charset="-120"/>
              </a:rPr>
              <a:t>Documented in CLEANING.md — 10 steps, each with a row count before and after.</a:t>
            </a:r>
            <a:endParaRPr lang="en-US" sz="1200" dirty="0"/>
          </a:p>
        </p:txBody>
      </p:sp>
      <p:sp>
        <p:nvSpPr>
          <p:cNvPr id="11" name="Text 8"/>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Source: CLEANING.md Steps 1–10, reproducible from the raw CSV with pandas.read_csv(..., encoding='utf-8-sig').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DATA AND PREPARATION</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Cost per prescription, not cost per patient</a:t>
            </a:r>
            <a:endParaRPr lang="en-US" sz="3200" dirty="0"/>
          </a:p>
        </p:txBody>
      </p:sp>
      <p:sp>
        <p:nvSpPr>
          <p:cNvPr id="4" name="Text 2"/>
          <p:cNvSpPr/>
          <p:nvPr/>
        </p:nvSpPr>
        <p:spPr>
          <a:xfrm>
            <a:off x="594360" y="1463040"/>
            <a:ext cx="5212080" cy="420624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16232B"/>
                </a:solidFill>
                <a:latin typeface="Calibri" pitchFamily="34" charset="0"/>
                <a:ea typeface="Calibri" pitchFamily="34" charset="-122"/>
                <a:cs typeface="Calibri" pitchFamily="34" charset="-120"/>
              </a:rPr>
              <a:t>Cost per patient would be the natural measure — but the patient-count column is blank on 58.9% of rows under CMS privacy suppression. It cannot be a denominator.</a:t>
            </a:r>
            <a:endParaRPr lang="en-US" sz="1400" dirty="0"/>
          </a:p>
          <a:p>
            <a:pPr marL="177800" indent="-177800">
              <a:spcAft>
                <a:spcPts val="900"/>
              </a:spcAft>
              <a:buSzPct val="100000"/>
              <a:buChar char="•"/>
            </a:pPr>
            <a:r>
              <a:rPr lang="en-US" sz="1400" dirty="0">
                <a:solidFill>
                  <a:srgbClr val="16232B"/>
                </a:solidFill>
                <a:latin typeface="Calibri" pitchFamily="34" charset="0"/>
                <a:ea typeface="Calibri" pitchFamily="34" charset="-122"/>
                <a:cs typeface="Calibri" pitchFamily="34" charset="-120"/>
              </a:rPr>
              <a:t>Claims and drug cost are complete: 0% blank. So the unit metric is cost per claim, with cost per 30-day fill as a companion.</a:t>
            </a:r>
            <a:endParaRPr lang="en-US" sz="1400" dirty="0"/>
          </a:p>
          <a:p>
            <a:pPr marL="177800" indent="-177800">
              <a:spcAft>
                <a:spcPts val="900"/>
              </a:spcAft>
              <a:buSzPct val="100000"/>
              <a:buChar char="•"/>
            </a:pPr>
            <a:r>
              <a:rPr lang="en-US" sz="1400" dirty="0">
                <a:solidFill>
                  <a:srgbClr val="16232B"/>
                </a:solidFill>
                <a:latin typeface="Calibri" pitchFamily="34" charset="0"/>
                <a:ea typeface="Calibri" pitchFamily="34" charset="-122"/>
                <a:cs typeface="Calibri" pitchFamily="34" charset="-120"/>
              </a:rPr>
              <a:t>That distribution is severely right-skewed: median $31.09, mean $193.65.</a:t>
            </a:r>
            <a:endParaRPr lang="en-US" sz="1400" dirty="0"/>
          </a:p>
          <a:p>
            <a:pPr marL="177800" indent="-177800">
              <a:spcAft>
                <a:spcPts val="900"/>
              </a:spcAft>
              <a:buSzPct val="100000"/>
              <a:buChar char="•"/>
            </a:pPr>
            <a:r>
              <a:rPr lang="en-US" sz="1400" dirty="0">
                <a:solidFill>
                  <a:srgbClr val="16232B"/>
                </a:solidFill>
                <a:latin typeface="Calibri" pitchFamily="34" charset="0"/>
                <a:ea typeface="Calibri" pitchFamily="34" charset="-122"/>
                <a:cs typeface="Calibri" pitchFamily="34" charset="-120"/>
              </a:rPr>
              <a:t>Skew that severe rules out tests that assume a normal distribution as the primary evidence — which drove the statistics on the next slides.</a:t>
            </a:r>
            <a:endParaRPr lang="en-US" sz="1400" dirty="0"/>
          </a:p>
        </p:txBody>
      </p:sp>
      <p:pic>
        <p:nvPicPr>
          <p:cNvPr id="5" name="Image 0" descr="/sessions/youthful-upbeat-clarke/mnt/DAB Capstone--outputs/charts/stage3_01_cost_per_claim_distribution.png">    </p:cNvPr>
          <p:cNvPicPr>
            <a:picLocks noChangeAspect="1"/>
          </p:cNvPicPr>
          <p:nvPr/>
        </p:nvPicPr>
        <p:blipFill>
          <a:blip r:embed="rId1"/>
          <a:stretch>
            <a:fillRect/>
          </a:stretch>
        </p:blipFill>
        <p:spPr>
          <a:xfrm>
            <a:off x="5989320" y="2156872"/>
            <a:ext cx="5669280" cy="3092897"/>
          </a:xfrm>
          <a:prstGeom prst="rect">
            <a:avLst/>
          </a:prstGeom>
        </p:spPr>
      </p:pic>
      <p:sp>
        <p:nvSpPr>
          <p:cNvPr id="6" name="Text 3"/>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Chart: stage3_01_cost_per_claim_distribution.png. Blank rates: CLEANING.md Step 6. Median and mean: FINDINGS.md F1.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7FD3C4"/>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Four tools, one question, each layer checking the last</a:t>
            </a:r>
            <a:endParaRPr lang="en-US" sz="3200" dirty="0"/>
          </a:p>
        </p:txBody>
      </p:sp>
      <p:sp>
        <p:nvSpPr>
          <p:cNvPr id="4" name="Shape 2"/>
          <p:cNvSpPr/>
          <p:nvPr/>
        </p:nvSpPr>
        <p:spPr>
          <a:xfrm>
            <a:off x="594360" y="1600200"/>
            <a:ext cx="2603754" cy="3200400"/>
          </a:xfrm>
          <a:prstGeom prst="roundRect">
            <a:avLst>
              <a:gd name="adj" fmla="val 2809"/>
            </a:avLst>
          </a:prstGeom>
          <a:solidFill>
            <a:srgbClr val="2C3670"/>
          </a:solidFill>
          <a:ln w="12700">
            <a:solidFill>
              <a:srgbClr val="2C3670"/>
            </a:solidFill>
            <a:prstDash val="solid"/>
          </a:ln>
        </p:spPr>
        <p:txBody>
          <a:bodyPr/>
          <a:p/>
        </p:txBody>
      </p:sp>
      <p:sp>
        <p:nvSpPr>
          <p:cNvPr id="5" name="Shape 3"/>
          <p:cNvSpPr/>
          <p:nvPr/>
        </p:nvSpPr>
        <p:spPr>
          <a:xfrm>
            <a:off x="886968" y="1874520"/>
            <a:ext cx="457200" cy="457200"/>
          </a:xfrm>
          <a:prstGeom prst="ellipse">
            <a:avLst/>
          </a:prstGeom>
          <a:solidFill>
            <a:srgbClr val="1C7293"/>
          </a:solidFill>
          <a:ln w="12700">
            <a:solidFill>
              <a:srgbClr val="1C7293"/>
            </a:solidFill>
            <a:prstDash val="solid"/>
          </a:ln>
        </p:spPr>
        <p:txBody>
          <a:bodyPr/>
          <a:p/>
        </p:txBody>
      </p:sp>
      <p:sp>
        <p:nvSpPr>
          <p:cNvPr id="6" name="Text 4"/>
          <p:cNvSpPr/>
          <p:nvPr/>
        </p:nvSpPr>
        <p:spPr>
          <a:xfrm>
            <a:off x="886968"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86968" y="2487168"/>
            <a:ext cx="2018538"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Excel</a:t>
            </a:r>
            <a:endParaRPr lang="en-US" sz="2200" dirty="0"/>
          </a:p>
        </p:txBody>
      </p:sp>
      <p:sp>
        <p:nvSpPr>
          <p:cNvPr id="8" name="Text 6"/>
          <p:cNvSpPr/>
          <p:nvPr/>
        </p:nvSpPr>
        <p:spPr>
          <a:xfrm>
            <a:off x="886968" y="2999232"/>
            <a:ext cx="2018538" cy="2103120"/>
          </a:xfrm>
          <a:prstGeom prst="rect">
            <a:avLst/>
          </a:prstGeom>
          <a:noFill/>
          <a:ln/>
        </p:spPr>
        <p:txBody>
          <a:bodyPr wrap="square" lIns="0" tIns="0" rIns="0" bIns="0" rtlCol="0" anchor="t"/>
          <a:lstStyle/>
          <a:p>
            <a:pPr indent="0" marL="0">
              <a:buNone/>
            </a:pPr>
            <a:r>
              <a:rPr lang="en-US" sz="1250" dirty="0">
                <a:solidFill>
                  <a:srgbClr val="CFE3EC"/>
                </a:solidFill>
                <a:latin typeface="Calibri" pitchFamily="34" charset="0"/>
                <a:ea typeface="Calibri" pitchFamily="34" charset="-122"/>
                <a:cs typeface="Calibri" pitchFamily="34" charset="-120"/>
              </a:rPr>
              <a:t>Aggregate tables straight from the raw extract. The fast first pass — and the tie-out that every later number is checked against.</a:t>
            </a:r>
            <a:endParaRPr lang="en-US" sz="1250" dirty="0"/>
          </a:p>
        </p:txBody>
      </p:sp>
      <p:sp>
        <p:nvSpPr>
          <p:cNvPr id="9" name="Shape 7"/>
          <p:cNvSpPr/>
          <p:nvPr/>
        </p:nvSpPr>
        <p:spPr>
          <a:xfrm>
            <a:off x="3399282" y="1600200"/>
            <a:ext cx="2603754" cy="3200400"/>
          </a:xfrm>
          <a:prstGeom prst="roundRect">
            <a:avLst>
              <a:gd name="adj" fmla="val 2809"/>
            </a:avLst>
          </a:prstGeom>
          <a:solidFill>
            <a:srgbClr val="2C3670"/>
          </a:solidFill>
          <a:ln w="12700">
            <a:solidFill>
              <a:srgbClr val="2C3670"/>
            </a:solidFill>
            <a:prstDash val="solid"/>
          </a:ln>
        </p:spPr>
        <p:txBody>
          <a:bodyPr/>
          <a:p/>
        </p:txBody>
      </p:sp>
      <p:sp>
        <p:nvSpPr>
          <p:cNvPr id="10" name="Shape 8"/>
          <p:cNvSpPr/>
          <p:nvPr/>
        </p:nvSpPr>
        <p:spPr>
          <a:xfrm>
            <a:off x="3691890" y="1874520"/>
            <a:ext cx="457200" cy="457200"/>
          </a:xfrm>
          <a:prstGeom prst="ellipse">
            <a:avLst/>
          </a:prstGeom>
          <a:solidFill>
            <a:srgbClr val="1C7293"/>
          </a:solidFill>
          <a:ln w="12700">
            <a:solidFill>
              <a:srgbClr val="1C7293"/>
            </a:solidFill>
            <a:prstDash val="solid"/>
          </a:ln>
        </p:spPr>
        <p:txBody>
          <a:bodyPr/>
          <a:p/>
        </p:txBody>
      </p:sp>
      <p:sp>
        <p:nvSpPr>
          <p:cNvPr id="11" name="Text 9"/>
          <p:cNvSpPr/>
          <p:nvPr/>
        </p:nvSpPr>
        <p:spPr>
          <a:xfrm>
            <a:off x="3691890"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691890" y="2487168"/>
            <a:ext cx="2018538"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SQL</a:t>
            </a:r>
            <a:endParaRPr lang="en-US" sz="2200" dirty="0"/>
          </a:p>
        </p:txBody>
      </p:sp>
      <p:sp>
        <p:nvSpPr>
          <p:cNvPr id="13" name="Text 11"/>
          <p:cNvSpPr/>
          <p:nvPr/>
        </p:nvSpPr>
        <p:spPr>
          <a:xfrm>
            <a:off x="3691890" y="2999232"/>
            <a:ext cx="2018538" cy="2103120"/>
          </a:xfrm>
          <a:prstGeom prst="rect">
            <a:avLst/>
          </a:prstGeom>
          <a:noFill/>
          <a:ln/>
        </p:spPr>
        <p:txBody>
          <a:bodyPr wrap="square" lIns="0" tIns="0" rIns="0" bIns="0" rtlCol="0" anchor="t"/>
          <a:lstStyle/>
          <a:p>
            <a:pPr indent="0" marL="0">
              <a:buNone/>
            </a:pPr>
            <a:r>
              <a:rPr lang="en-US" sz="1250" dirty="0">
                <a:solidFill>
                  <a:srgbClr val="CFE3EC"/>
                </a:solidFill>
                <a:latin typeface="Calibri" pitchFamily="34" charset="0"/>
                <a:ea typeface="Calibri" pitchFamily="34" charset="-122"/>
                <a:cs typeface="Calibri" pitchFamily="34" charset="-120"/>
              </a:rPr>
              <a:t>The full 390,473-row file as system of record. Percentile window functions (NTILE) build the peer bands and identify outliers inside each specialty.</a:t>
            </a:r>
            <a:endParaRPr lang="en-US" sz="1250" dirty="0"/>
          </a:p>
        </p:txBody>
      </p:sp>
      <p:sp>
        <p:nvSpPr>
          <p:cNvPr id="14" name="Shape 12"/>
          <p:cNvSpPr/>
          <p:nvPr/>
        </p:nvSpPr>
        <p:spPr>
          <a:xfrm>
            <a:off x="6204204" y="1600200"/>
            <a:ext cx="2603754" cy="3200400"/>
          </a:xfrm>
          <a:prstGeom prst="roundRect">
            <a:avLst>
              <a:gd name="adj" fmla="val 2809"/>
            </a:avLst>
          </a:prstGeom>
          <a:solidFill>
            <a:srgbClr val="2C3670"/>
          </a:solidFill>
          <a:ln w="12700">
            <a:solidFill>
              <a:srgbClr val="2C3670"/>
            </a:solidFill>
            <a:prstDash val="solid"/>
          </a:ln>
        </p:spPr>
        <p:txBody>
          <a:bodyPr/>
          <a:p/>
        </p:txBody>
      </p:sp>
      <p:sp>
        <p:nvSpPr>
          <p:cNvPr id="15" name="Shape 13"/>
          <p:cNvSpPr/>
          <p:nvPr/>
        </p:nvSpPr>
        <p:spPr>
          <a:xfrm>
            <a:off x="6496812" y="1874520"/>
            <a:ext cx="457200" cy="457200"/>
          </a:xfrm>
          <a:prstGeom prst="ellipse">
            <a:avLst/>
          </a:prstGeom>
          <a:solidFill>
            <a:srgbClr val="1C7293"/>
          </a:solidFill>
          <a:ln w="12700">
            <a:solidFill>
              <a:srgbClr val="1C7293"/>
            </a:solidFill>
            <a:prstDash val="solid"/>
          </a:ln>
        </p:spPr>
        <p:txBody>
          <a:bodyPr/>
          <a:p/>
        </p:txBody>
      </p:sp>
      <p:sp>
        <p:nvSpPr>
          <p:cNvPr id="16" name="Text 14"/>
          <p:cNvSpPr/>
          <p:nvPr/>
        </p:nvSpPr>
        <p:spPr>
          <a:xfrm>
            <a:off x="6496812"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496812" y="2487168"/>
            <a:ext cx="2018538"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Python</a:t>
            </a:r>
            <a:endParaRPr lang="en-US" sz="2200" dirty="0"/>
          </a:p>
        </p:txBody>
      </p:sp>
      <p:sp>
        <p:nvSpPr>
          <p:cNvPr id="18" name="Text 16"/>
          <p:cNvSpPr/>
          <p:nvPr/>
        </p:nvSpPr>
        <p:spPr>
          <a:xfrm>
            <a:off x="6496812" y="2999232"/>
            <a:ext cx="2018538" cy="2103120"/>
          </a:xfrm>
          <a:prstGeom prst="rect">
            <a:avLst/>
          </a:prstGeom>
          <a:noFill/>
          <a:ln/>
        </p:spPr>
        <p:txBody>
          <a:bodyPr wrap="square" lIns="0" tIns="0" rIns="0" bIns="0" rtlCol="0" anchor="t"/>
          <a:lstStyle/>
          <a:p>
            <a:pPr indent="0" marL="0">
              <a:buNone/>
            </a:pPr>
            <a:r>
              <a:rPr lang="en-US" sz="1250" dirty="0">
                <a:solidFill>
                  <a:srgbClr val="CFE3EC"/>
                </a:solidFill>
                <a:latin typeface="Calibri" pitchFamily="34" charset="0"/>
                <a:ea typeface="Calibri" pitchFamily="34" charset="-122"/>
                <a:cs typeface="Calibri" pitchFamily="34" charset="-120"/>
              </a:rPr>
              <a:t>pandas and seaborn. Tests which dimension actually explains cost, ranks prescribers inside their own specialty, and produces the seven charts.</a:t>
            </a:r>
            <a:endParaRPr lang="en-US" sz="1250" dirty="0"/>
          </a:p>
        </p:txBody>
      </p:sp>
      <p:sp>
        <p:nvSpPr>
          <p:cNvPr id="19" name="Shape 17"/>
          <p:cNvSpPr/>
          <p:nvPr/>
        </p:nvSpPr>
        <p:spPr>
          <a:xfrm>
            <a:off x="9009126" y="1600200"/>
            <a:ext cx="2603754" cy="3200400"/>
          </a:xfrm>
          <a:prstGeom prst="roundRect">
            <a:avLst>
              <a:gd name="adj" fmla="val 2809"/>
            </a:avLst>
          </a:prstGeom>
          <a:solidFill>
            <a:srgbClr val="2C3670"/>
          </a:solidFill>
          <a:ln w="12700">
            <a:solidFill>
              <a:srgbClr val="2C3670"/>
            </a:solidFill>
            <a:prstDash val="solid"/>
          </a:ln>
        </p:spPr>
        <p:txBody>
          <a:bodyPr/>
          <a:p/>
        </p:txBody>
      </p:sp>
      <p:sp>
        <p:nvSpPr>
          <p:cNvPr id="20" name="Shape 18"/>
          <p:cNvSpPr/>
          <p:nvPr/>
        </p:nvSpPr>
        <p:spPr>
          <a:xfrm>
            <a:off x="9301734" y="1874520"/>
            <a:ext cx="457200" cy="457200"/>
          </a:xfrm>
          <a:prstGeom prst="ellipse">
            <a:avLst/>
          </a:prstGeom>
          <a:solidFill>
            <a:srgbClr val="00A896"/>
          </a:solidFill>
          <a:ln w="12700">
            <a:solidFill>
              <a:srgbClr val="00A896"/>
            </a:solidFill>
            <a:prstDash val="solid"/>
          </a:ln>
        </p:spPr>
        <p:txBody>
          <a:bodyPr/>
          <a:p/>
        </p:txBody>
      </p:sp>
      <p:sp>
        <p:nvSpPr>
          <p:cNvPr id="21" name="Text 19"/>
          <p:cNvSpPr/>
          <p:nvPr/>
        </p:nvSpPr>
        <p:spPr>
          <a:xfrm>
            <a:off x="9301734"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9301734" y="2487168"/>
            <a:ext cx="2018538"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Tableau</a:t>
            </a:r>
            <a:endParaRPr lang="en-US" sz="2200" dirty="0"/>
          </a:p>
        </p:txBody>
      </p:sp>
      <p:sp>
        <p:nvSpPr>
          <p:cNvPr id="23" name="Text 21"/>
          <p:cNvSpPr/>
          <p:nvPr/>
        </p:nvSpPr>
        <p:spPr>
          <a:xfrm>
            <a:off x="9301734" y="2999232"/>
            <a:ext cx="2018538" cy="2103120"/>
          </a:xfrm>
          <a:prstGeom prst="rect">
            <a:avLst/>
          </a:prstGeom>
          <a:noFill/>
          <a:ln/>
        </p:spPr>
        <p:txBody>
          <a:bodyPr wrap="square" lIns="0" tIns="0" rIns="0" bIns="0" rtlCol="0" anchor="t"/>
          <a:lstStyle/>
          <a:p>
            <a:pPr indent="0" marL="0">
              <a:buNone/>
            </a:pPr>
            <a:r>
              <a:rPr lang="en-US" sz="1250" dirty="0">
                <a:solidFill>
                  <a:srgbClr val="CFE3EC"/>
                </a:solidFill>
                <a:latin typeface="Calibri" pitchFamily="34" charset="0"/>
                <a:ea typeface="Calibri" pitchFamily="34" charset="-122"/>
                <a:cs typeface="Calibri" pitchFamily="34" charset="-120"/>
              </a:rPr>
              <a:t>The executive layer — the prioritized segments in a form a population health director can act on, paired with a one-page memo.</a:t>
            </a:r>
            <a:endParaRPr lang="en-US" sz="1250" dirty="0"/>
          </a:p>
        </p:txBody>
      </p:sp>
      <p:sp>
        <p:nvSpPr>
          <p:cNvPr id="24" name="Text 22"/>
          <p:cNvSpPr/>
          <p:nvPr/>
        </p:nvSpPr>
        <p:spPr>
          <a:xfrm>
            <a:off x="594360" y="5120640"/>
            <a:ext cx="11018520" cy="685800"/>
          </a:xfrm>
          <a:prstGeom prst="rect">
            <a:avLst/>
          </a:prstGeom>
          <a:noFill/>
          <a:ln/>
        </p:spPr>
        <p:txBody>
          <a:bodyPr wrap="square" lIns="0" tIns="0" rIns="0" bIns="0" rtlCol="0" anchor="ctr"/>
          <a:lstStyle/>
          <a:p>
            <a:pPr indent="0" marL="0">
              <a:buNone/>
            </a:pPr>
            <a:r>
              <a:rPr lang="en-US" sz="1250" i="1" dirty="0">
                <a:solidFill>
                  <a:srgbClr val="9FC0D0"/>
                </a:solidFill>
                <a:latin typeface="Calibri" pitchFamily="34" charset="0"/>
                <a:ea typeface="Calibri" pitchFamily="34" charset="-122"/>
                <a:cs typeface="Calibri" pitchFamily="34" charset="-120"/>
              </a:rPr>
              <a:t>Substitution, stated openly: the proposal called for regression. Regression was never covered in this curriculum, so the same question — which dimension drives cost — is answered with ANOVA, Kruskal–Wallis, and within-specialty percentile ranking.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FINDING 1</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Specialty drives cost. Geography barely matters.</a:t>
            </a:r>
            <a:endParaRPr lang="en-US" sz="3200" dirty="0"/>
          </a:p>
        </p:txBody>
      </p:sp>
      <p:pic>
        <p:nvPicPr>
          <p:cNvPr id="4" name="Image 0" descr="/sessions/youthful-upbeat-clarke/mnt/DAB Capstone--outputs/charts/stage3_05_group_median_dispersion_by_dimension.png">    </p:cNvPr>
          <p:cNvPicPr>
            <a:picLocks noChangeAspect="1"/>
          </p:cNvPicPr>
          <p:nvPr/>
        </p:nvPicPr>
        <p:blipFill>
          <a:blip r:embed="rId1"/>
          <a:stretch>
            <a:fillRect/>
          </a:stretch>
        </p:blipFill>
        <p:spPr>
          <a:xfrm>
            <a:off x="548640" y="1387314"/>
            <a:ext cx="5486400" cy="4266252"/>
          </a:xfrm>
          <a:prstGeom prst="rect">
            <a:avLst/>
          </a:prstGeom>
        </p:spPr>
      </p:pic>
      <p:sp>
        <p:nvSpPr>
          <p:cNvPr id="5" name="Shape 2"/>
          <p:cNvSpPr/>
          <p:nvPr/>
        </p:nvSpPr>
        <p:spPr>
          <a:xfrm>
            <a:off x="6400800" y="1463040"/>
            <a:ext cx="5212080" cy="1874520"/>
          </a:xfrm>
          <a:prstGeom prst="roundRect">
            <a:avLst>
              <a:gd name="adj" fmla="val 3902"/>
            </a:avLst>
          </a:prstGeom>
          <a:solidFill>
            <a:srgbClr val="EDF3F6"/>
          </a:solidFill>
          <a:ln w="12700">
            <a:solidFill>
              <a:srgbClr val="EDF3F6"/>
            </a:solidFill>
            <a:prstDash val="solid"/>
          </a:ln>
        </p:spPr>
        <p:txBody>
          <a:bodyPr/>
          <a:p/>
        </p:txBody>
      </p:sp>
      <p:sp>
        <p:nvSpPr>
          <p:cNvPr id="6" name="Text 3"/>
          <p:cNvSpPr/>
          <p:nvPr/>
        </p:nvSpPr>
        <p:spPr>
          <a:xfrm>
            <a:off x="6720840" y="1600200"/>
            <a:ext cx="4572000" cy="32004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Specialty</a:t>
            </a:r>
            <a:endParaRPr lang="en-US" sz="1200" dirty="0"/>
          </a:p>
        </p:txBody>
      </p:sp>
      <p:sp>
        <p:nvSpPr>
          <p:cNvPr id="7" name="Text 4"/>
          <p:cNvSpPr/>
          <p:nvPr/>
        </p:nvSpPr>
        <p:spPr>
          <a:xfrm>
            <a:off x="6720840" y="1938528"/>
            <a:ext cx="4572000" cy="777240"/>
          </a:xfrm>
          <a:prstGeom prst="rect">
            <a:avLst/>
          </a:prstGeom>
          <a:noFill/>
          <a:ln/>
        </p:spPr>
        <p:txBody>
          <a:bodyPr wrap="square" lIns="0" tIns="0" rIns="0" bIns="0" rtlCol="0" anchor="ctr"/>
          <a:lstStyle/>
          <a:p>
            <a:pPr algn="l" indent="0" marL="0">
              <a:buNone/>
            </a:pPr>
            <a:r>
              <a:rPr lang="en-US" sz="3400" b="1" dirty="0">
                <a:solidFill>
                  <a:srgbClr val="065A82"/>
                </a:solidFill>
                <a:latin typeface="Cambria" pitchFamily="34" charset="0"/>
                <a:ea typeface="Cambria" pitchFamily="34" charset="-122"/>
                <a:cs typeface="Cambria" pitchFamily="34" charset="-120"/>
              </a:rPr>
              <a:t>11.2×</a:t>
            </a:r>
            <a:endParaRPr lang="en-US" sz="3400" dirty="0"/>
          </a:p>
        </p:txBody>
      </p:sp>
      <p:sp>
        <p:nvSpPr>
          <p:cNvPr id="8" name="Text 5"/>
          <p:cNvSpPr/>
          <p:nvPr/>
        </p:nvSpPr>
        <p:spPr>
          <a:xfrm>
            <a:off x="6720840" y="2688336"/>
            <a:ext cx="4572000" cy="566928"/>
          </a:xfrm>
          <a:prstGeom prst="rect">
            <a:avLst/>
          </a:prstGeom>
          <a:noFill/>
          <a:ln/>
        </p:spPr>
        <p:txBody>
          <a:bodyPr wrap="square" lIns="0" tIns="0" rIns="0" bIns="0" rtlCol="0" anchor="t"/>
          <a:lstStyle/>
          <a:p>
            <a:pPr algn="l" indent="0" marL="0">
              <a:buNone/>
            </a:pPr>
            <a:r>
              <a:rPr lang="en-US" sz="1200" dirty="0">
                <a:solidFill>
                  <a:srgbClr val="5C7480"/>
                </a:solidFill>
                <a:latin typeface="Calibri" pitchFamily="34" charset="0"/>
                <a:ea typeface="Calibri" pitchFamily="34" charset="-122"/>
                <a:cs typeface="Calibri" pitchFamily="34" charset="-120"/>
              </a:rPr>
              <a:t>spread in median cost per claim between the middle half of the 46 qualifying specialties</a:t>
            </a:r>
            <a:endParaRPr lang="en-US" sz="1200" dirty="0"/>
          </a:p>
        </p:txBody>
      </p:sp>
      <p:sp>
        <p:nvSpPr>
          <p:cNvPr id="9" name="Shape 6"/>
          <p:cNvSpPr/>
          <p:nvPr/>
        </p:nvSpPr>
        <p:spPr>
          <a:xfrm>
            <a:off x="6400800" y="3520440"/>
            <a:ext cx="5212080" cy="1874520"/>
          </a:xfrm>
          <a:prstGeom prst="roundRect">
            <a:avLst>
              <a:gd name="adj" fmla="val 3902"/>
            </a:avLst>
          </a:prstGeom>
          <a:solidFill>
            <a:srgbClr val="EDF3F6"/>
          </a:solidFill>
          <a:ln w="12700">
            <a:solidFill>
              <a:srgbClr val="EDF3F6"/>
            </a:solidFill>
            <a:prstDash val="solid"/>
          </a:ln>
        </p:spPr>
        <p:txBody>
          <a:bodyPr/>
          <a:p/>
        </p:txBody>
      </p:sp>
      <p:sp>
        <p:nvSpPr>
          <p:cNvPr id="10" name="Text 7"/>
          <p:cNvSpPr/>
          <p:nvPr/>
        </p:nvSpPr>
        <p:spPr>
          <a:xfrm>
            <a:off x="6720840" y="3657600"/>
            <a:ext cx="4572000" cy="320040"/>
          </a:xfrm>
          <a:prstGeom prst="rect">
            <a:avLst/>
          </a:prstGeom>
          <a:noFill/>
          <a:ln/>
        </p:spPr>
        <p:txBody>
          <a:bodyPr wrap="square" lIns="0" tIns="0" rIns="0" bIns="0" rtlCol="0" anchor="ctr"/>
          <a:lstStyle/>
          <a:p>
            <a:pPr indent="0" marL="0">
              <a:buNone/>
            </a:pPr>
            <a:r>
              <a:rPr lang="en-US" sz="1200" b="1" dirty="0">
                <a:solidFill>
                  <a:srgbClr val="5C7480"/>
                </a:solidFill>
                <a:latin typeface="Calibri" pitchFamily="34" charset="0"/>
                <a:ea typeface="Calibri" pitchFamily="34" charset="-122"/>
                <a:cs typeface="Calibri" pitchFamily="34" charset="-120"/>
              </a:rPr>
              <a:t>City</a:t>
            </a:r>
            <a:endParaRPr lang="en-US" sz="1200" dirty="0"/>
          </a:p>
        </p:txBody>
      </p:sp>
      <p:sp>
        <p:nvSpPr>
          <p:cNvPr id="11" name="Text 8"/>
          <p:cNvSpPr/>
          <p:nvPr/>
        </p:nvSpPr>
        <p:spPr>
          <a:xfrm>
            <a:off x="6720840" y="3995928"/>
            <a:ext cx="4572000" cy="777240"/>
          </a:xfrm>
          <a:prstGeom prst="rect">
            <a:avLst/>
          </a:prstGeom>
          <a:noFill/>
          <a:ln/>
        </p:spPr>
        <p:txBody>
          <a:bodyPr wrap="square" lIns="0" tIns="0" rIns="0" bIns="0" rtlCol="0" anchor="ctr"/>
          <a:lstStyle/>
          <a:p>
            <a:pPr algn="l" indent="0" marL="0">
              <a:buNone/>
            </a:pPr>
            <a:r>
              <a:rPr lang="en-US" sz="3400" b="1" dirty="0">
                <a:solidFill>
                  <a:srgbClr val="5C7480"/>
                </a:solidFill>
                <a:latin typeface="Cambria" pitchFamily="34" charset="0"/>
                <a:ea typeface="Cambria" pitchFamily="34" charset="-122"/>
                <a:cs typeface="Cambria" pitchFamily="34" charset="-120"/>
              </a:rPr>
              <a:t>1.8×</a:t>
            </a:r>
            <a:endParaRPr lang="en-US" sz="3400" dirty="0"/>
          </a:p>
        </p:txBody>
      </p:sp>
      <p:sp>
        <p:nvSpPr>
          <p:cNvPr id="12" name="Text 9"/>
          <p:cNvSpPr/>
          <p:nvPr/>
        </p:nvSpPr>
        <p:spPr>
          <a:xfrm>
            <a:off x="6720840" y="4745736"/>
            <a:ext cx="4572000" cy="566928"/>
          </a:xfrm>
          <a:prstGeom prst="rect">
            <a:avLst/>
          </a:prstGeom>
          <a:noFill/>
          <a:ln/>
        </p:spPr>
        <p:txBody>
          <a:bodyPr wrap="square" lIns="0" tIns="0" rIns="0" bIns="0" rtlCol="0" anchor="t"/>
          <a:lstStyle/>
          <a:p>
            <a:pPr algn="l" indent="0" marL="0">
              <a:buNone/>
            </a:pPr>
            <a:r>
              <a:rPr lang="en-US" sz="1200" dirty="0">
                <a:solidFill>
                  <a:srgbClr val="5C7480"/>
                </a:solidFill>
                <a:latin typeface="Calibri" pitchFamily="34" charset="0"/>
                <a:ea typeface="Calibri" pitchFamily="34" charset="-122"/>
                <a:cs typeface="Calibri" pitchFamily="34" charset="-120"/>
              </a:rPr>
              <a:t>the same spread across the 60 qualifying Colorado cities</a:t>
            </a:r>
            <a:endParaRPr lang="en-US" sz="1200" dirty="0"/>
          </a:p>
        </p:txBody>
      </p:sp>
      <p:sp>
        <p:nvSpPr>
          <p:cNvPr id="13" name="Text 10"/>
          <p:cNvSpPr/>
          <p:nvPr/>
        </p:nvSpPr>
        <p:spPr>
          <a:xfrm>
            <a:off x="6400800" y="5532120"/>
            <a:ext cx="5212080" cy="548640"/>
          </a:xfrm>
          <a:prstGeom prst="rect">
            <a:avLst/>
          </a:prstGeom>
          <a:noFill/>
          <a:ln/>
        </p:spPr>
        <p:txBody>
          <a:bodyPr wrap="square" lIns="0" tIns="0" rIns="0" bIns="0" rtlCol="0" anchor="ctr"/>
          <a:lstStyle/>
          <a:p>
            <a:pPr indent="0" marL="0">
              <a:buNone/>
            </a:pPr>
            <a:r>
              <a:rPr lang="en-US" sz="1300" b="1" i="1" dirty="0">
                <a:solidFill>
                  <a:srgbClr val="065A82"/>
                </a:solidFill>
                <a:latin typeface="Calibri" pitchFamily="34" charset="0"/>
                <a:ea typeface="Calibri" pitchFamily="34" charset="-122"/>
                <a:cs typeface="Calibri" pitchFamily="34" charset="-120"/>
              </a:rPr>
              <a:t>Both dimensions are statistically significant. Only one is practically significant.</a:t>
            </a:r>
            <a:endParaRPr lang="en-US" sz="1300" dirty="0"/>
          </a:p>
        </p:txBody>
      </p:sp>
      <p:sp>
        <p:nvSpPr>
          <p:cNvPr id="14" name="Text 11"/>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Chart: stage3_05. Kruskal–Wallis H = 8,608.94 (specialty) vs 254.96 (city), both p &lt; 0.001. FINDINGS.md F1. City = the 60 raw CMS city strings, 28 spelling variants unnormalized (QUESTIONS.md Q1); no regional grouping was tested.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FINDING 1, CONTINUED</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One list holds a $3.89 specialty and a $2,272 specialty</a:t>
            </a:r>
            <a:endParaRPr lang="en-US" sz="3200" dirty="0"/>
          </a:p>
        </p:txBody>
      </p:sp>
      <p:pic>
        <p:nvPicPr>
          <p:cNvPr id="4" name="Image 0" descr="/sessions/youthful-upbeat-clarke/mnt/DAB Capstone--outputs/charts/stage3_03_median_cost_per_claim_by_specialty.png">    </p:cNvPr>
          <p:cNvPicPr>
            <a:picLocks noChangeAspect="1"/>
          </p:cNvPicPr>
          <p:nvPr/>
        </p:nvPicPr>
        <p:blipFill>
          <a:blip r:embed="rId1"/>
          <a:stretch>
            <a:fillRect/>
          </a:stretch>
        </p:blipFill>
        <p:spPr>
          <a:xfrm>
            <a:off x="699882" y="1325880"/>
            <a:ext cx="7469916" cy="4754880"/>
          </a:xfrm>
          <a:prstGeom prst="rect">
            <a:avLst/>
          </a:prstGeom>
        </p:spPr>
      </p:pic>
      <p:sp>
        <p:nvSpPr>
          <p:cNvPr id="5" name="Shape 2"/>
          <p:cNvSpPr/>
          <p:nvPr/>
        </p:nvSpPr>
        <p:spPr>
          <a:xfrm>
            <a:off x="8458200" y="1737360"/>
            <a:ext cx="3154680" cy="3657600"/>
          </a:xfrm>
          <a:prstGeom prst="roundRect">
            <a:avLst>
              <a:gd name="adj" fmla="val 2319"/>
            </a:avLst>
          </a:prstGeom>
          <a:solidFill>
            <a:srgbClr val="EDF3F6"/>
          </a:solidFill>
          <a:ln w="12700">
            <a:solidFill>
              <a:srgbClr val="EDF3F6"/>
            </a:solidFill>
            <a:prstDash val="solid"/>
          </a:ln>
        </p:spPr>
        <p:txBody>
          <a:bodyPr/>
          <a:p/>
        </p:txBody>
      </p:sp>
      <p:sp>
        <p:nvSpPr>
          <p:cNvPr id="6" name="Text 3"/>
          <p:cNvSpPr/>
          <p:nvPr/>
        </p:nvSpPr>
        <p:spPr>
          <a:xfrm>
            <a:off x="8732520" y="1965960"/>
            <a:ext cx="2606040" cy="3200400"/>
          </a:xfrm>
          <a:prstGeom prst="rect">
            <a:avLst/>
          </a:prstGeom>
          <a:noFill/>
          <a:ln/>
        </p:spPr>
        <p:txBody>
          <a:bodyPr wrap="square" lIns="0" tIns="0" rIns="0" bIns="0" rtlCol="0" anchor="t"/>
          <a:lstStyle/>
          <a:p>
            <a:pPr indent="0" marL="0">
              <a:buNone/>
            </a:pPr>
            <a:r>
              <a:rPr lang="en-US" sz="4000" b="1" dirty="0">
                <a:solidFill>
                  <a:srgbClr val="065A82"/>
                </a:solidFill>
                <a:latin typeface="Cambria" pitchFamily="34" charset="0"/>
                <a:ea typeface="Cambria" pitchFamily="34" charset="-122"/>
                <a:cs typeface="Cambria" pitchFamily="34" charset="-120"/>
              </a:rPr>
              <a:t>584×</a:t>
            </a:r>
            <a:endParaRPr lang="en-US" sz="4000" dirty="0"/>
          </a:p>
          <a:p>
            <a:pPr indent="0" marL="0">
              <a:buNone/>
            </a:pPr>
            <a:r>
              <a:rPr lang="en-US" sz="1300" dirty="0">
                <a:solidFill>
                  <a:srgbClr val="16232B"/>
                </a:solidFill>
                <a:latin typeface="Calibri" pitchFamily="34" charset="0"/>
                <a:ea typeface="Calibri" pitchFamily="34" charset="-122"/>
                <a:cs typeface="Calibri" pitchFamily="34" charset="-120"/>
              </a:rPr>
              <a:t>separates the cheapest qualifying specialty from the most expensive on median cost per claim.</a:t>
            </a:r>
            <a:endParaRPr lang="en-US" sz="4000" dirty="0"/>
          </a:p>
          <a:p>
            <a:pPr indent="0" marL="0">
              <a:buNone/>
            </a:pPr>
            <a:endParaRPr lang="en-US" sz="4000" dirty="0"/>
          </a:p>
          <a:p>
            <a:pPr indent="0" marL="0">
              <a:buNone/>
            </a:pPr>
            <a:r>
              <a:rPr lang="en-US" sz="1300" i="1" dirty="0">
                <a:solidFill>
                  <a:srgbClr val="16232B"/>
                </a:solidFill>
                <a:latin typeface="Calibri" pitchFamily="34" charset="0"/>
                <a:ea typeface="Calibri" pitchFamily="34" charset="-122"/>
                <a:cs typeface="Calibri" pitchFamily="34" charset="-120"/>
              </a:rPr>
              <a:t>This is case mix, not behavior. Any ranking that ignores it is ranking specialties in disguise.</a:t>
            </a:r>
            <a:endParaRPr lang="en-US" sz="4000" dirty="0"/>
          </a:p>
        </p:txBody>
      </p:sp>
      <p:sp>
        <p:nvSpPr>
          <p:cNvPr id="7" name="Text 4"/>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Chart: stage3_03_median_cost_per_claim_by_specialty.png. Specialties with ≥30 prescribers only. FINDINGS.md F1.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FINDING 2</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Spending a lot and charging a lot are unrelated</a:t>
            </a:r>
            <a:endParaRPr lang="en-US" sz="3200" dirty="0"/>
          </a:p>
        </p:txBody>
      </p:sp>
      <p:pic>
        <p:nvPicPr>
          <p:cNvPr id="4" name="Image 0" descr="/sessions/youthful-upbeat-clarke/mnt/DAB Capstone--outputs/charts/stage3_07_prescriber_measure_correlation_heatmap.png">    </p:cNvPr>
          <p:cNvPicPr>
            <a:picLocks noChangeAspect="1"/>
          </p:cNvPicPr>
          <p:nvPr/>
        </p:nvPicPr>
        <p:blipFill>
          <a:blip r:embed="rId1"/>
          <a:stretch>
            <a:fillRect/>
          </a:stretch>
        </p:blipFill>
        <p:spPr>
          <a:xfrm>
            <a:off x="6309360" y="1458418"/>
            <a:ext cx="5303520" cy="4124044"/>
          </a:xfrm>
          <a:prstGeom prst="rect">
            <a:avLst/>
          </a:prstGeom>
        </p:spPr>
      </p:pic>
      <p:sp>
        <p:nvSpPr>
          <p:cNvPr id="5" name="Text 2"/>
          <p:cNvSpPr/>
          <p:nvPr/>
        </p:nvSpPr>
        <p:spPr>
          <a:xfrm>
            <a:off x="594360" y="1554480"/>
            <a:ext cx="5212080" cy="1554480"/>
          </a:xfrm>
          <a:prstGeom prst="rect">
            <a:avLst/>
          </a:prstGeom>
          <a:noFill/>
          <a:ln/>
        </p:spPr>
        <p:txBody>
          <a:bodyPr wrap="square" lIns="0" tIns="0" rIns="0" bIns="0" rtlCol="0" anchor="t"/>
          <a:lstStyle/>
          <a:p>
            <a:pPr indent="0" marL="0">
              <a:buNone/>
            </a:pPr>
            <a:r>
              <a:rPr lang="en-US" sz="5200" b="1" dirty="0">
                <a:solidFill>
                  <a:srgbClr val="065A82"/>
                </a:solidFill>
                <a:latin typeface="Cambria" pitchFamily="34" charset="0"/>
                <a:ea typeface="Cambria" pitchFamily="34" charset="-122"/>
                <a:cs typeface="Cambria" pitchFamily="34" charset="-120"/>
              </a:rPr>
              <a:t>−0.011</a:t>
            </a:r>
            <a:endParaRPr lang="en-US" sz="5200" dirty="0"/>
          </a:p>
          <a:p>
            <a:pPr indent="0" marL="0">
              <a:buNone/>
            </a:pPr>
            <a:r>
              <a:rPr lang="en-US" sz="1500" dirty="0">
                <a:solidFill>
                  <a:srgbClr val="16232B"/>
                </a:solidFill>
                <a:latin typeface="Calibri" pitchFamily="34" charset="0"/>
                <a:ea typeface="Calibri" pitchFamily="34" charset="-122"/>
                <a:cs typeface="Calibri" pitchFamily="34" charset="-120"/>
              </a:rPr>
              <a:t>correlation between cost per claim and claim volume</a:t>
            </a:r>
            <a:endParaRPr lang="en-US" sz="5200" dirty="0"/>
          </a:p>
        </p:txBody>
      </p:sp>
      <p:sp>
        <p:nvSpPr>
          <p:cNvPr id="6" name="Text 3"/>
          <p:cNvSpPr/>
          <p:nvPr/>
        </p:nvSpPr>
        <p:spPr>
          <a:xfrm>
            <a:off x="594360" y="3291840"/>
            <a:ext cx="5212080" cy="2286000"/>
          </a:xfrm>
          <a:prstGeom prst="rect">
            <a:avLst/>
          </a:prstGeom>
          <a:noFill/>
          <a:ln/>
        </p:spPr>
        <p:txBody>
          <a:bodyPr wrap="square" lIns="0" tIns="0" rIns="0" bIns="0" rtlCol="0" anchor="t"/>
          <a:lstStyle/>
          <a:p>
            <a:pPr indent="0" marL="0">
              <a:buNone/>
            </a:pPr>
            <a:r>
              <a:rPr lang="en-US" sz="1450" dirty="0">
                <a:solidFill>
                  <a:srgbClr val="16232B"/>
                </a:solidFill>
                <a:latin typeface="Calibri" pitchFamily="34" charset="0"/>
                <a:ea typeface="Calibri" pitchFamily="34" charset="-122"/>
                <a:cs typeface="Calibri" pitchFamily="34" charset="-120"/>
              </a:rPr>
              <a:t>A correlation of zero means the two measures carry no information about each other. Knowing how much a prescriber spends tells you nothing about whether their prescriptions are expensive.</a:t>
            </a:r>
            <a:endParaRPr lang="en-US" sz="1450" dirty="0"/>
          </a:p>
          <a:p>
            <a:pPr indent="0" marL="0">
              <a:buNone/>
            </a:pPr>
            <a:endParaRPr lang="en-US" sz="1450" dirty="0"/>
          </a:p>
          <a:p>
            <a:pPr indent="0" marL="0">
              <a:buNone/>
            </a:pPr>
            <a:r>
              <a:rPr lang="en-US" sz="1450" b="1" dirty="0">
                <a:solidFill>
                  <a:srgbClr val="16232B"/>
                </a:solidFill>
                <a:latin typeface="Calibri" pitchFamily="34" charset="0"/>
                <a:ea typeface="Calibri" pitchFamily="34" charset="-122"/>
                <a:cs typeface="Calibri" pitchFamily="34" charset="-120"/>
              </a:rPr>
              <a:t>So a high-spend review list and a high-unit-cost review list are not two versions of the same list. They are lists of different people.</a:t>
            </a:r>
            <a:endParaRPr lang="en-US" sz="1450" dirty="0"/>
          </a:p>
        </p:txBody>
      </p:sp>
      <p:sp>
        <p:nvSpPr>
          <p:cNvPr id="7" name="Text 4"/>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Chart: stage3_07_prescriber_measure_correlation_heatmap.png. Pearson r, prescriber level. FINDINGS.md F4.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FINDING 3</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Half the prescribers who stand out among peers are invisible statewide</a:t>
            </a:r>
            <a:endParaRPr lang="en-US" sz="3200" dirty="0"/>
          </a:p>
        </p:txBody>
      </p:sp>
      <p:pic>
        <p:nvPicPr>
          <p:cNvPr id="4" name="Image 0" descr="/sessions/youthful-upbeat-clarke/mnt/DAB Capstone--outputs/charts/stage3_06_within_specialty_outliers_scatter.png">    </p:cNvPr>
          <p:cNvPicPr>
            <a:picLocks noChangeAspect="1"/>
          </p:cNvPicPr>
          <p:nvPr/>
        </p:nvPicPr>
        <p:blipFill>
          <a:blip r:embed="rId1"/>
          <a:stretch>
            <a:fillRect/>
          </a:stretch>
        </p:blipFill>
        <p:spPr>
          <a:xfrm>
            <a:off x="5989320" y="1716086"/>
            <a:ext cx="5669280" cy="3608708"/>
          </a:xfrm>
          <a:prstGeom prst="rect">
            <a:avLst/>
          </a:prstGeom>
        </p:spPr>
      </p:pic>
      <p:sp>
        <p:nvSpPr>
          <p:cNvPr id="5" name="Text 2"/>
          <p:cNvSpPr/>
          <p:nvPr/>
        </p:nvSpPr>
        <p:spPr>
          <a:xfrm>
            <a:off x="594360" y="1554480"/>
            <a:ext cx="5120640" cy="3566160"/>
          </a:xfrm>
          <a:prstGeom prst="rect">
            <a:avLst/>
          </a:prstGeom>
          <a:noFill/>
          <a:ln/>
        </p:spPr>
        <p:txBody>
          <a:bodyPr wrap="square" lIns="0" tIns="0" rIns="0" bIns="0" rtlCol="0" anchor="t"/>
          <a:lstStyle/>
          <a:p>
            <a:pPr indent="0" marL="0">
              <a:lnSpc>
                <a:spcPct val="115000"/>
              </a:lnSpc>
              <a:buNone/>
            </a:pPr>
            <a:r>
              <a:rPr lang="en-US" sz="2600" b="1" dirty="0">
                <a:solidFill>
                  <a:srgbClr val="5C7480"/>
                </a:solidFill>
                <a:latin typeface="Cambria" pitchFamily="34" charset="0"/>
                <a:ea typeface="Cambria" pitchFamily="34" charset="-122"/>
                <a:cs typeface="Cambria" pitchFamily="34" charset="-120"/>
              </a:rPr>
              <a:t>431</a:t>
            </a:r>
            <a:pPr indent="0" marL="0">
              <a:lnSpc>
                <a:spcPct val="115000"/>
              </a:lnSpc>
              <a:buNone/>
            </a:pPr>
            <a:r>
              <a:rPr lang="en-US" sz="1350" dirty="0">
                <a:solidFill>
                  <a:srgbClr val="16232B"/>
                </a:solidFill>
                <a:latin typeface="Calibri" pitchFamily="34" charset="0"/>
                <a:ea typeface="Calibri" pitchFamily="34" charset="-122"/>
                <a:cs typeface="Calibri" pitchFamily="34" charset="-120"/>
              </a:rPr>
              <a:t>  flagged statewide only — high unit cost, but perfectly normal for their specialty.</a:t>
            </a:r>
            <a:endParaRPr lang="en-US" sz="2600" dirty="0"/>
          </a:p>
          <a:p>
            <a:pPr indent="0" marL="0">
              <a:lnSpc>
                <a:spcPct val="115000"/>
              </a:lnSpc>
              <a:buNone/>
            </a:pPr>
            <a:endParaRPr lang="en-US" sz="2600" dirty="0"/>
          </a:p>
          <a:p>
            <a:pPr indent="0" marL="0">
              <a:lnSpc>
                <a:spcPct val="115000"/>
              </a:lnSpc>
              <a:buNone/>
            </a:pPr>
            <a:r>
              <a:rPr lang="en-US" sz="2600" b="1" dirty="0">
                <a:solidFill>
                  <a:srgbClr val="1C7293"/>
                </a:solidFill>
                <a:latin typeface="Cambria" pitchFamily="34" charset="0"/>
                <a:ea typeface="Cambria" pitchFamily="34" charset="-122"/>
                <a:cs typeface="Cambria" pitchFamily="34" charset="-120"/>
              </a:rPr>
              <a:t>498</a:t>
            </a:r>
            <a:pPr indent="0" marL="0">
              <a:lnSpc>
                <a:spcPct val="115000"/>
              </a:lnSpc>
              <a:buNone/>
            </a:pPr>
            <a:r>
              <a:rPr lang="en-US" sz="1350" dirty="0">
                <a:solidFill>
                  <a:srgbClr val="16232B"/>
                </a:solidFill>
                <a:latin typeface="Calibri" pitchFamily="34" charset="0"/>
                <a:ea typeface="Calibri" pitchFamily="34" charset="-122"/>
                <a:cs typeface="Calibri" pitchFamily="34" charset="-120"/>
              </a:rPr>
              <a:t>  flagged by both methods — the overlap.</a:t>
            </a:r>
            <a:endParaRPr lang="en-US" sz="2600" dirty="0"/>
          </a:p>
          <a:p>
            <a:pPr indent="0" marL="0">
              <a:lnSpc>
                <a:spcPct val="115000"/>
              </a:lnSpc>
              <a:buNone/>
            </a:pPr>
            <a:endParaRPr lang="en-US" sz="2600" dirty="0"/>
          </a:p>
          <a:p>
            <a:pPr indent="0" marL="0">
              <a:lnSpc>
                <a:spcPct val="115000"/>
              </a:lnSpc>
              <a:buNone/>
            </a:pPr>
            <a:r>
              <a:rPr lang="en-US" sz="2600" b="1" dirty="0">
                <a:solidFill>
                  <a:srgbClr val="065A82"/>
                </a:solidFill>
                <a:latin typeface="Cambria" pitchFamily="34" charset="0"/>
                <a:ea typeface="Cambria" pitchFamily="34" charset="-122"/>
                <a:cs typeface="Cambria" pitchFamily="34" charset="-120"/>
              </a:rPr>
              <a:t>467</a:t>
            </a:r>
            <a:pPr indent="0" marL="0">
              <a:lnSpc>
                <a:spcPct val="115000"/>
              </a:lnSpc>
              <a:buNone/>
            </a:pPr>
            <a:r>
              <a:rPr lang="en-US" sz="1350" b="1" dirty="0">
                <a:solidFill>
                  <a:srgbClr val="16232B"/>
                </a:solidFill>
                <a:latin typeface="Calibri" pitchFamily="34" charset="0"/>
                <a:ea typeface="Calibri" pitchFamily="34" charset="-122"/>
                <a:cs typeface="Calibri" pitchFamily="34" charset="-120"/>
              </a:rPr>
              <a:t>  flagged only against their own peers — 48% of the within-specialty list, and they never appear on a statewide ranking at all.</a:t>
            </a:r>
            <a:endParaRPr lang="en-US" sz="2600" dirty="0"/>
          </a:p>
        </p:txBody>
      </p:sp>
      <p:sp>
        <p:nvSpPr>
          <p:cNvPr id="6" name="Shape 3"/>
          <p:cNvSpPr/>
          <p:nvPr/>
        </p:nvSpPr>
        <p:spPr>
          <a:xfrm>
            <a:off x="594360" y="5074920"/>
            <a:ext cx="5120640" cy="960120"/>
          </a:xfrm>
          <a:prstGeom prst="roundRect">
            <a:avLst>
              <a:gd name="adj" fmla="val 7619"/>
            </a:avLst>
          </a:prstGeom>
          <a:solidFill>
            <a:srgbClr val="E8F4F1"/>
          </a:solidFill>
          <a:ln w="12700">
            <a:solidFill>
              <a:srgbClr val="E8F4F1"/>
            </a:solidFill>
            <a:prstDash val="solid"/>
          </a:ln>
        </p:spPr>
        <p:txBody>
          <a:bodyPr/>
          <a:p/>
        </p:txBody>
      </p:sp>
      <p:sp>
        <p:nvSpPr>
          <p:cNvPr id="7" name="Text 4"/>
          <p:cNvSpPr/>
          <p:nvPr/>
        </p:nvSpPr>
        <p:spPr>
          <a:xfrm>
            <a:off x="868680" y="5212080"/>
            <a:ext cx="4572000" cy="68580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965 prescribers — 5.1% of the state — sit above their own specialty’s 95th percentile and carry 22.1% of spend.</a:t>
            </a:r>
            <a:endParaRPr lang="en-US" sz="1300" dirty="0"/>
          </a:p>
        </p:txBody>
      </p:sp>
      <p:sp>
        <p:nvSpPr>
          <p:cNvPr id="8" name="Text 5"/>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Chart: stage3_06_within_specialty_outliers_scatter.png. FINDINGS.md F2, F3. Flag rule: cost per claim above the prescriber’s own specialty p95.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FINDING 4</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The money is concentrated — 20 drugs carry 45% of it</a:t>
            </a:r>
            <a:endParaRPr lang="en-US" sz="3200" dirty="0"/>
          </a:p>
        </p:txBody>
      </p:sp>
      <p:pic>
        <p:nvPicPr>
          <p:cNvPr id="4" name="Image 0" descr="/sessions/youthful-upbeat-clarke/mnt/DAB Capstone--outputs/charts/stage3_04_top15_generic_drugs_by_spend.png">    </p:cNvPr>
          <p:cNvPicPr>
            <a:picLocks noChangeAspect="1"/>
          </p:cNvPicPr>
          <p:nvPr/>
        </p:nvPicPr>
        <p:blipFill>
          <a:blip r:embed="rId1"/>
          <a:stretch>
            <a:fillRect/>
          </a:stretch>
        </p:blipFill>
        <p:spPr>
          <a:xfrm>
            <a:off x="594360" y="1335644"/>
            <a:ext cx="7223760" cy="4598192"/>
          </a:xfrm>
          <a:prstGeom prst="rect">
            <a:avLst/>
          </a:prstGeom>
        </p:spPr>
      </p:pic>
      <p:sp>
        <p:nvSpPr>
          <p:cNvPr id="5" name="Shape 2"/>
          <p:cNvSpPr/>
          <p:nvPr/>
        </p:nvSpPr>
        <p:spPr>
          <a:xfrm>
            <a:off x="8092440" y="1417320"/>
            <a:ext cx="3520440" cy="3063240"/>
          </a:xfrm>
          <a:prstGeom prst="roundRect">
            <a:avLst>
              <a:gd name="adj" fmla="val 2388"/>
            </a:avLst>
          </a:prstGeom>
          <a:solidFill>
            <a:srgbClr val="EDF3F6"/>
          </a:solidFill>
          <a:ln w="12700">
            <a:solidFill>
              <a:srgbClr val="EDF3F6"/>
            </a:solidFill>
            <a:prstDash val="solid"/>
          </a:ln>
        </p:spPr>
        <p:txBody>
          <a:bodyPr/>
          <a:p/>
        </p:txBody>
      </p:sp>
      <p:sp>
        <p:nvSpPr>
          <p:cNvPr id="6" name="Text 3"/>
          <p:cNvSpPr/>
          <p:nvPr/>
        </p:nvSpPr>
        <p:spPr>
          <a:xfrm>
            <a:off x="8366760" y="1572768"/>
            <a:ext cx="3017520" cy="320040"/>
          </a:xfrm>
          <a:prstGeom prst="rect">
            <a:avLst/>
          </a:prstGeom>
          <a:noFill/>
          <a:ln/>
        </p:spPr>
        <p:txBody>
          <a:bodyPr wrap="square" lIns="0" tIns="0" rIns="0" bIns="0" rtlCol="0" anchor="ctr"/>
          <a:lstStyle/>
          <a:p>
            <a:pPr indent="0" marL="0">
              <a:buNone/>
            </a:pPr>
            <a:r>
              <a:rPr lang="en-US" sz="1200" b="1" spc="100" kern="0" dirty="0">
                <a:solidFill>
                  <a:srgbClr val="1C7293"/>
                </a:solidFill>
                <a:latin typeface="Calibri" pitchFamily="34" charset="0"/>
                <a:ea typeface="Calibri" pitchFamily="34" charset="-122"/>
                <a:cs typeface="Calibri" pitchFamily="34" charset="-120"/>
              </a:rPr>
              <a:t>Share of the $2.74B</a:t>
            </a:r>
            <a:endParaRPr lang="en-US" sz="1200" dirty="0"/>
          </a:p>
        </p:txBody>
      </p:sp>
      <p:sp>
        <p:nvSpPr>
          <p:cNvPr id="7" name="Text 4"/>
          <p:cNvSpPr/>
          <p:nvPr/>
        </p:nvSpPr>
        <p:spPr>
          <a:xfrm>
            <a:off x="8366760" y="2011680"/>
            <a:ext cx="2011680" cy="365760"/>
          </a:xfrm>
          <a:prstGeom prst="rect">
            <a:avLst/>
          </a:prstGeom>
          <a:noFill/>
          <a:ln/>
        </p:spPr>
        <p:txBody>
          <a:bodyPr wrap="square" lIns="0" tIns="0" rIns="0" bIns="0" rtlCol="0" anchor="ctr"/>
          <a:lstStyle/>
          <a:p>
            <a:pPr indent="0" marL="0">
              <a:buNone/>
            </a:pPr>
            <a:r>
              <a:rPr lang="en-US" sz="1250" dirty="0">
                <a:solidFill>
                  <a:srgbClr val="16232B"/>
                </a:solidFill>
                <a:latin typeface="Calibri" pitchFamily="34" charset="0"/>
                <a:ea typeface="Calibri" pitchFamily="34" charset="-122"/>
                <a:cs typeface="Calibri" pitchFamily="34" charset="-120"/>
              </a:rPr>
              <a:t>Top 10 drugs</a:t>
            </a:r>
            <a:endParaRPr lang="en-US" sz="1250" dirty="0"/>
          </a:p>
        </p:txBody>
      </p:sp>
      <p:sp>
        <p:nvSpPr>
          <p:cNvPr id="8" name="Text 5"/>
          <p:cNvSpPr/>
          <p:nvPr/>
        </p:nvSpPr>
        <p:spPr>
          <a:xfrm>
            <a:off x="10332720" y="2011680"/>
            <a:ext cx="1005840" cy="365760"/>
          </a:xfrm>
          <a:prstGeom prst="rect">
            <a:avLst/>
          </a:prstGeom>
          <a:noFill/>
          <a:ln/>
        </p:spPr>
        <p:txBody>
          <a:bodyPr wrap="square" lIns="0" tIns="0" rIns="0" bIns="0" rtlCol="0" anchor="ctr"/>
          <a:lstStyle/>
          <a:p>
            <a:pPr algn="r" indent="0" marL="0">
              <a:buNone/>
            </a:pPr>
            <a:r>
              <a:rPr lang="en-US" sz="1300" b="1" dirty="0">
                <a:solidFill>
                  <a:srgbClr val="5C7480"/>
                </a:solidFill>
                <a:latin typeface="Calibri" pitchFamily="34" charset="0"/>
                <a:ea typeface="Calibri" pitchFamily="34" charset="-122"/>
                <a:cs typeface="Calibri" pitchFamily="34" charset="-120"/>
              </a:rPr>
              <a:t>33.5%</a:t>
            </a:r>
            <a:endParaRPr lang="en-US" sz="1300" dirty="0"/>
          </a:p>
        </p:txBody>
      </p:sp>
      <p:sp>
        <p:nvSpPr>
          <p:cNvPr id="9" name="Text 6"/>
          <p:cNvSpPr/>
          <p:nvPr/>
        </p:nvSpPr>
        <p:spPr>
          <a:xfrm>
            <a:off x="8366760" y="2468880"/>
            <a:ext cx="2011680" cy="365760"/>
          </a:xfrm>
          <a:prstGeom prst="rect">
            <a:avLst/>
          </a:prstGeom>
          <a:noFill/>
          <a:ln/>
        </p:spPr>
        <p:txBody>
          <a:bodyPr wrap="square" lIns="0" tIns="0" rIns="0" bIns="0" rtlCol="0" anchor="ctr"/>
          <a:lstStyle/>
          <a:p>
            <a:pPr indent="0" marL="0">
              <a:buNone/>
            </a:pPr>
            <a:r>
              <a:rPr lang="en-US" sz="1250" dirty="0">
                <a:solidFill>
                  <a:srgbClr val="16232B"/>
                </a:solidFill>
                <a:latin typeface="Calibri" pitchFamily="34" charset="0"/>
                <a:ea typeface="Calibri" pitchFamily="34" charset="-122"/>
                <a:cs typeface="Calibri" pitchFamily="34" charset="-120"/>
              </a:rPr>
              <a:t>Top 20 drugs</a:t>
            </a:r>
            <a:endParaRPr lang="en-US" sz="1250" dirty="0"/>
          </a:p>
        </p:txBody>
      </p:sp>
      <p:sp>
        <p:nvSpPr>
          <p:cNvPr id="10" name="Text 7"/>
          <p:cNvSpPr/>
          <p:nvPr/>
        </p:nvSpPr>
        <p:spPr>
          <a:xfrm>
            <a:off x="10332720" y="2468880"/>
            <a:ext cx="1005840"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45.5%</a:t>
            </a:r>
            <a:endParaRPr lang="en-US" sz="1300" dirty="0"/>
          </a:p>
        </p:txBody>
      </p:sp>
      <p:sp>
        <p:nvSpPr>
          <p:cNvPr id="11" name="Text 8"/>
          <p:cNvSpPr/>
          <p:nvPr/>
        </p:nvSpPr>
        <p:spPr>
          <a:xfrm>
            <a:off x="8366760" y="2926080"/>
            <a:ext cx="2011680" cy="365760"/>
          </a:xfrm>
          <a:prstGeom prst="rect">
            <a:avLst/>
          </a:prstGeom>
          <a:noFill/>
          <a:ln/>
        </p:spPr>
        <p:txBody>
          <a:bodyPr wrap="square" lIns="0" tIns="0" rIns="0" bIns="0" rtlCol="0" anchor="ctr"/>
          <a:lstStyle/>
          <a:p>
            <a:pPr indent="0" marL="0">
              <a:buNone/>
            </a:pPr>
            <a:r>
              <a:rPr lang="en-US" sz="1250" dirty="0">
                <a:solidFill>
                  <a:srgbClr val="16232B"/>
                </a:solidFill>
                <a:latin typeface="Calibri" pitchFamily="34" charset="0"/>
                <a:ea typeface="Calibri" pitchFamily="34" charset="-122"/>
                <a:cs typeface="Calibri" pitchFamily="34" charset="-120"/>
              </a:rPr>
              <a:t>Top 100 drugs</a:t>
            </a:r>
            <a:endParaRPr lang="en-US" sz="1250" dirty="0"/>
          </a:p>
        </p:txBody>
      </p:sp>
      <p:sp>
        <p:nvSpPr>
          <p:cNvPr id="12" name="Text 9"/>
          <p:cNvSpPr/>
          <p:nvPr/>
        </p:nvSpPr>
        <p:spPr>
          <a:xfrm>
            <a:off x="10332720" y="2926080"/>
            <a:ext cx="1005840" cy="365760"/>
          </a:xfrm>
          <a:prstGeom prst="rect">
            <a:avLst/>
          </a:prstGeom>
          <a:noFill/>
          <a:ln/>
        </p:spPr>
        <p:txBody>
          <a:bodyPr wrap="square" lIns="0" tIns="0" rIns="0" bIns="0" rtlCol="0" anchor="ctr"/>
          <a:lstStyle/>
          <a:p>
            <a:pPr algn="r" indent="0" marL="0">
              <a:buNone/>
            </a:pPr>
            <a:r>
              <a:rPr lang="en-US" sz="1300" b="1" dirty="0">
                <a:solidFill>
                  <a:srgbClr val="5C7480"/>
                </a:solidFill>
                <a:latin typeface="Calibri" pitchFamily="34" charset="0"/>
                <a:ea typeface="Calibri" pitchFamily="34" charset="-122"/>
                <a:cs typeface="Calibri" pitchFamily="34" charset="-120"/>
              </a:rPr>
              <a:t>79.0%</a:t>
            </a:r>
            <a:endParaRPr lang="en-US" sz="1300" dirty="0"/>
          </a:p>
        </p:txBody>
      </p:sp>
      <p:sp>
        <p:nvSpPr>
          <p:cNvPr id="13" name="Text 10"/>
          <p:cNvSpPr/>
          <p:nvPr/>
        </p:nvSpPr>
        <p:spPr>
          <a:xfrm>
            <a:off x="8366760" y="3383280"/>
            <a:ext cx="2011680" cy="365760"/>
          </a:xfrm>
          <a:prstGeom prst="rect">
            <a:avLst/>
          </a:prstGeom>
          <a:noFill/>
          <a:ln/>
        </p:spPr>
        <p:txBody>
          <a:bodyPr wrap="square" lIns="0" tIns="0" rIns="0" bIns="0" rtlCol="0" anchor="ctr"/>
          <a:lstStyle/>
          <a:p>
            <a:pPr indent="0" marL="0">
              <a:buNone/>
            </a:pPr>
            <a:r>
              <a:rPr lang="en-US" sz="1250" dirty="0">
                <a:solidFill>
                  <a:srgbClr val="16232B"/>
                </a:solidFill>
                <a:latin typeface="Calibri" pitchFamily="34" charset="0"/>
                <a:ea typeface="Calibri" pitchFamily="34" charset="-122"/>
                <a:cs typeface="Calibri" pitchFamily="34" charset="-120"/>
              </a:rPr>
              <a:t>Top 100 prescribers</a:t>
            </a:r>
            <a:endParaRPr lang="en-US" sz="1250" dirty="0"/>
          </a:p>
        </p:txBody>
      </p:sp>
      <p:sp>
        <p:nvSpPr>
          <p:cNvPr id="14" name="Text 11"/>
          <p:cNvSpPr/>
          <p:nvPr/>
        </p:nvSpPr>
        <p:spPr>
          <a:xfrm>
            <a:off x="10332720" y="3383280"/>
            <a:ext cx="1005840" cy="365760"/>
          </a:xfrm>
          <a:prstGeom prst="rect">
            <a:avLst/>
          </a:prstGeom>
          <a:noFill/>
          <a:ln/>
        </p:spPr>
        <p:txBody>
          <a:bodyPr wrap="square" lIns="0" tIns="0" rIns="0" bIns="0" rtlCol="0" anchor="ctr"/>
          <a:lstStyle/>
          <a:p>
            <a:pPr algn="r" indent="0" marL="0">
              <a:buNone/>
            </a:pPr>
            <a:r>
              <a:rPr lang="en-US" sz="1300" b="1" dirty="0">
                <a:solidFill>
                  <a:srgbClr val="5C7480"/>
                </a:solidFill>
                <a:latin typeface="Calibri" pitchFamily="34" charset="0"/>
                <a:ea typeface="Calibri" pitchFamily="34" charset="-122"/>
                <a:cs typeface="Calibri" pitchFamily="34" charset="-120"/>
              </a:rPr>
              <a:t>18.5%</a:t>
            </a:r>
            <a:endParaRPr lang="en-US" sz="1300" dirty="0"/>
          </a:p>
        </p:txBody>
      </p:sp>
      <p:sp>
        <p:nvSpPr>
          <p:cNvPr id="15" name="Text 12"/>
          <p:cNvSpPr/>
          <p:nvPr/>
        </p:nvSpPr>
        <p:spPr>
          <a:xfrm>
            <a:off x="8366760" y="3840480"/>
            <a:ext cx="2011680" cy="365760"/>
          </a:xfrm>
          <a:prstGeom prst="rect">
            <a:avLst/>
          </a:prstGeom>
          <a:noFill/>
          <a:ln/>
        </p:spPr>
        <p:txBody>
          <a:bodyPr wrap="square" lIns="0" tIns="0" rIns="0" bIns="0" rtlCol="0" anchor="ctr"/>
          <a:lstStyle/>
          <a:p>
            <a:pPr indent="0" marL="0">
              <a:buNone/>
            </a:pPr>
            <a:r>
              <a:rPr lang="en-US" sz="1250" dirty="0">
                <a:solidFill>
                  <a:srgbClr val="16232B"/>
                </a:solidFill>
                <a:latin typeface="Calibri" pitchFamily="34" charset="0"/>
                <a:ea typeface="Calibri" pitchFamily="34" charset="-122"/>
                <a:cs typeface="Calibri" pitchFamily="34" charset="-120"/>
              </a:rPr>
              <a:t>Top 10% of prescribers</a:t>
            </a:r>
            <a:endParaRPr lang="en-US" sz="1250" dirty="0"/>
          </a:p>
        </p:txBody>
      </p:sp>
      <p:sp>
        <p:nvSpPr>
          <p:cNvPr id="16" name="Text 13"/>
          <p:cNvSpPr/>
          <p:nvPr/>
        </p:nvSpPr>
        <p:spPr>
          <a:xfrm>
            <a:off x="10332720" y="3840480"/>
            <a:ext cx="1005840"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71.9%</a:t>
            </a:r>
            <a:endParaRPr lang="en-US" sz="1300" dirty="0"/>
          </a:p>
        </p:txBody>
      </p:sp>
      <p:sp>
        <p:nvSpPr>
          <p:cNvPr id="17" name="Shape 14"/>
          <p:cNvSpPr/>
          <p:nvPr/>
        </p:nvSpPr>
        <p:spPr>
          <a:xfrm>
            <a:off x="8092440" y="4663440"/>
            <a:ext cx="3520440" cy="1325880"/>
          </a:xfrm>
          <a:prstGeom prst="roundRect">
            <a:avLst>
              <a:gd name="adj" fmla="val 5517"/>
            </a:avLst>
          </a:prstGeom>
          <a:solidFill>
            <a:srgbClr val="E8F4F1"/>
          </a:solidFill>
          <a:ln w="12700">
            <a:solidFill>
              <a:srgbClr val="E8F4F1"/>
            </a:solidFill>
            <a:prstDash val="solid"/>
          </a:ln>
        </p:spPr>
        <p:txBody>
          <a:bodyPr/>
          <a:p/>
        </p:txBody>
      </p:sp>
      <p:sp>
        <p:nvSpPr>
          <p:cNvPr id="18" name="Text 15"/>
          <p:cNvSpPr/>
          <p:nvPr/>
        </p:nvSpPr>
        <p:spPr>
          <a:xfrm>
            <a:off x="8366760" y="4800600"/>
            <a:ext cx="2971800" cy="1051560"/>
          </a:xfrm>
          <a:prstGeom prst="rect">
            <a:avLst/>
          </a:prstGeom>
          <a:noFill/>
          <a:ln/>
        </p:spPr>
        <p:txBody>
          <a:bodyPr wrap="square" lIns="0" tIns="0" rIns="0" bIns="0" rtlCol="0" anchor="ctr"/>
          <a:lstStyle/>
          <a:p>
            <a:pPr indent="0" marL="0">
              <a:buNone/>
            </a:pPr>
            <a:r>
              <a:rPr lang="en-US" sz="1250" dirty="0">
                <a:solidFill>
                  <a:srgbClr val="16232B"/>
                </a:solidFill>
                <a:latin typeface="Calibri" pitchFamily="34" charset="0"/>
                <a:ea typeface="Calibri" pitchFamily="34" charset="-122"/>
                <a:cs typeface="Calibri" pitchFamily="34" charset="-120"/>
              </a:rPr>
              <a:t>1.7% of the drug list carries nearly half of Colorado Part D spend. That is what makes a targeted review economically worth doing.</a:t>
            </a:r>
            <a:endParaRPr lang="en-US" sz="1250" dirty="0"/>
          </a:p>
        </p:txBody>
      </p:sp>
      <p:sp>
        <p:nvSpPr>
          <p:cNvPr id="19" name="Text 16"/>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Chart: stage3_04_top15_generic_drugs_by_spend.png. Concentration figures: FINDINGS.md F5.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RECOMMENDATION</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Review these 507 clinicians first — as one cohort</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7086600" cy="914400"/>
        </p:xfrm>
        <a:graphic>
          <a:graphicData uri="http://schemas.openxmlformats.org/drawingml/2006/table">
            <a:tbl>
              <a:tblPr/>
              <a:tblGrid>
                <a:gridCol w="2148840"/>
                <a:gridCol w="1371600"/>
                <a:gridCol w="1325880"/>
                <a:gridCol w="1234440"/>
                <a:gridCol w="1005840"/>
              </a:tblGrid>
              <a:tr h="32918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Specialty</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21295C"/>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Outliers / prescribers</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21295C"/>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Spend flagged</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21295C"/>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 of specialty spend</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21295C"/>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Cost per claim (wtd)</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21295C"/>
                    </a:solidFill>
                  </a:tcPr>
                </a:tc>
              </a:tr>
              <a:tr h="329184">
                <a:tc>
                  <a:txBody>
                    <a:bodyPr/>
                    <a:lstStyle/>
                    <a:p>
                      <a:pPr algn="l" indent="0" marL="0">
                        <a:buNone/>
                      </a:pPr>
                      <a:r>
                        <a:rPr lang="en-US" sz="1100" b="1" dirty="0">
                          <a:solidFill>
                            <a:srgbClr val="16232B"/>
                          </a:solidFill>
                          <a:latin typeface="Calibri" pitchFamily="34" charset="0"/>
                          <a:ea typeface="Calibri" pitchFamily="34" charset="-122"/>
                          <a:cs typeface="Calibri" pitchFamily="34" charset="-120"/>
                        </a:rPr>
                        <a:t>Nurse Practitioner</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176 / 3,509</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$109.3M</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27.8%</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$137</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r>
              <a:tr h="329184">
                <a:tc>
                  <a:txBody>
                    <a:bodyPr/>
                    <a:lstStyle/>
                    <a:p>
                      <a:pPr algn="l" indent="0" marL="0">
                        <a:buNone/>
                      </a:pPr>
                      <a:r>
                        <a:rPr lang="en-US" sz="1100" b="1" dirty="0">
                          <a:solidFill>
                            <a:srgbClr val="16232B"/>
                          </a:solidFill>
                          <a:latin typeface="Calibri" pitchFamily="34" charset="0"/>
                          <a:ea typeface="Calibri" pitchFamily="34" charset="-122"/>
                          <a:cs typeface="Calibri" pitchFamily="34" charset="-120"/>
                        </a:rPr>
                        <a:t>Physician Assistant</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151 / 3,010</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$106.7M</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41.6%</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$147</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r>
              <a:tr h="329184">
                <a:tc>
                  <a:txBody>
                    <a:bodyPr/>
                    <a:lstStyle/>
                    <a:p>
                      <a:pPr algn="l" indent="0" marL="0">
                        <a:buNone/>
                      </a:pPr>
                      <a:r>
                        <a:rPr lang="en-US" sz="1100" b="1" dirty="0">
                          <a:solidFill>
                            <a:srgbClr val="16232B"/>
                          </a:solidFill>
                          <a:latin typeface="Calibri" pitchFamily="34" charset="0"/>
                          <a:ea typeface="Calibri" pitchFamily="34" charset="-122"/>
                          <a:cs typeface="Calibri" pitchFamily="34" charset="-120"/>
                        </a:rPr>
                        <a:t>Internal Medicine</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65 / 1,292</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$60.3M</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19.1%</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r>
              <a:tr h="329184">
                <a:tc>
                  <a:txBody>
                    <a:bodyPr/>
                    <a:lstStyle/>
                    <a:p>
                      <a:pPr algn="l" indent="0" marL="0">
                        <a:buNone/>
                      </a:pPr>
                      <a:r>
                        <a:rPr lang="en-US" sz="1100" b="1" dirty="0">
                          <a:solidFill>
                            <a:srgbClr val="16232B"/>
                          </a:solidFill>
                          <a:latin typeface="Calibri" pitchFamily="34" charset="0"/>
                          <a:ea typeface="Calibri" pitchFamily="34" charset="-122"/>
                          <a:cs typeface="Calibri" pitchFamily="34" charset="-120"/>
                        </a:rPr>
                        <a:t>Family Practice</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115 / 2,288</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$41.3M</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11.7%</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c>
                  <a:txBody>
                    <a:bodyPr/>
                    <a:lstStyle/>
                    <a:p>
                      <a:pPr algn="r" indent="0" marL="0">
                        <a:buNone/>
                      </a:pPr>
                      <a:r>
                        <a:rPr lang="en-US" sz="1100" b="1" dirty="0">
                          <a:solidFill>
                            <a:srgbClr val="16232B"/>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solidFill>
                      <a:srgbClr val="E8F4F1"/>
                    </a:solidFill>
                  </a:tcPr>
                </a:tc>
              </a:tr>
              <a:tr h="329184">
                <a:tc>
                  <a:txBody>
                    <a:bodyPr/>
                    <a:lstStyle/>
                    <a:p>
                      <a:pPr algn="l" indent="0" marL="0">
                        <a:buNone/>
                      </a:pPr>
                      <a:r>
                        <a:rPr lang="en-US" sz="1100" dirty="0">
                          <a:solidFill>
                            <a:srgbClr val="16232B"/>
                          </a:solidFill>
                          <a:latin typeface="Calibri" pitchFamily="34" charset="0"/>
                          <a:ea typeface="Calibri" pitchFamily="34" charset="-122"/>
                          <a:cs typeface="Calibri" pitchFamily="34" charset="-120"/>
                        </a:rPr>
                        <a:t>Hematology-Oncology</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6 / 115</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$33.0M</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$2,652</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r>
              <a:tr h="329184">
                <a:tc>
                  <a:txBody>
                    <a:bodyPr/>
                    <a:lstStyle/>
                    <a:p>
                      <a:pPr algn="l" indent="0" marL="0">
                        <a:buNone/>
                      </a:pPr>
                      <a:r>
                        <a:rPr lang="en-US" sz="1100" dirty="0">
                          <a:solidFill>
                            <a:srgbClr val="16232B"/>
                          </a:solidFill>
                          <a:latin typeface="Calibri" pitchFamily="34" charset="0"/>
                          <a:ea typeface="Calibri" pitchFamily="34" charset="-122"/>
                          <a:cs typeface="Calibri" pitchFamily="34" charset="-120"/>
                        </a:rPr>
                        <a:t>Urology</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9 / 178</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$26.7M</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53.0%</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$320</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r>
              <a:tr h="329184">
                <a:tc>
                  <a:txBody>
                    <a:bodyPr/>
                    <a:lstStyle/>
                    <a:p>
                      <a:pPr algn="l" indent="0" marL="0">
                        <a:buNone/>
                      </a:pPr>
                      <a:r>
                        <a:rPr lang="en-US" sz="1100" dirty="0">
                          <a:solidFill>
                            <a:srgbClr val="16232B"/>
                          </a:solidFill>
                          <a:latin typeface="Calibri" pitchFamily="34" charset="0"/>
                          <a:ea typeface="Calibri" pitchFamily="34" charset="-122"/>
                          <a:cs typeface="Calibri" pitchFamily="34" charset="-120"/>
                        </a:rPr>
                        <a:t>Pulmonary Disease</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8 / 154</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$25.6M</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24.8%</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$907</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r>
              <a:tr h="329184">
                <a:tc>
                  <a:txBody>
                    <a:bodyPr/>
                    <a:lstStyle/>
                    <a:p>
                      <a:pPr algn="l" indent="0" marL="0">
                        <a:buNone/>
                      </a:pPr>
                      <a:r>
                        <a:rPr lang="en-US" sz="1100" dirty="0">
                          <a:solidFill>
                            <a:srgbClr val="16232B"/>
                          </a:solidFill>
                          <a:latin typeface="Calibri" pitchFamily="34" charset="0"/>
                          <a:ea typeface="Calibri" pitchFamily="34" charset="-122"/>
                          <a:cs typeface="Calibri" pitchFamily="34" charset="-120"/>
                        </a:rPr>
                        <a:t>Cardiology</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11 / 205</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$24.1M</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17.9%</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c>
                  <a:txBody>
                    <a:bodyPr/>
                    <a:lstStyle/>
                    <a:p>
                      <a:pPr algn="r" indent="0" marL="0">
                        <a:buNone/>
                      </a:pPr>
                      <a:r>
                        <a:rPr lang="en-US" sz="1100" dirty="0">
                          <a:solidFill>
                            <a:srgbClr val="16232B"/>
                          </a:solidFill>
                          <a:latin typeface="Calibri" pitchFamily="34" charset="0"/>
                          <a:ea typeface="Calibri" pitchFamily="34" charset="-122"/>
                          <a:cs typeface="Calibri" pitchFamily="34" charset="-120"/>
                        </a:rPr>
                        <a:t>$272</a:t>
                      </a:r>
                      <a:endParaRPr lang="en-US" sz="1100" dirty="0">
                        <a:latin typeface="Calibri" charset="0"/>
                        <a:ea typeface="Calibri" charset="0"/>
                        <a:cs typeface="Calibri" charset="0"/>
                      </a:endParaRPr>
                    </a:p>
                  </a:txBody>
                  <a:tcPr marL="91440" marR="91440" marT="45720" marB="45720" anchor="ctr">
                    <a:lnL w="12700" cap="flat" cmpd="sng" algn="ctr">
                      <a:solidFill>
                        <a:srgbClr val="D5E2E9"/>
                      </a:solidFill>
                      <a:prstDash val="solid"/>
                      <a:round/>
                      <a:headEnd type="none" w="med" len="med"/>
                      <a:tailEnd type="none" w="med" len="med"/>
                    </a:lnL>
                    <a:lnR w="12700" cap="flat" cmpd="sng" algn="ctr">
                      <a:solidFill>
                        <a:srgbClr val="D5E2E9"/>
                      </a:solidFill>
                      <a:prstDash val="solid"/>
                      <a:round/>
                      <a:headEnd type="none" w="med" len="med"/>
                      <a:tailEnd type="none" w="med" len="med"/>
                    </a:lnR>
                    <a:lnT w="12700" cap="flat" cmpd="sng" algn="ctr">
                      <a:solidFill>
                        <a:srgbClr val="D5E2E9"/>
                      </a:solidFill>
                      <a:prstDash val="solid"/>
                      <a:round/>
                      <a:headEnd type="none" w="med" len="med"/>
                      <a:tailEnd type="none" w="med" len="med"/>
                    </a:lnT>
                    <a:lnB w="12700" cap="flat" cmpd="sng" algn="ctr">
                      <a:solidFill>
                        <a:srgbClr val="D5E2E9"/>
                      </a:solidFill>
                      <a:prstDash val="solid"/>
                      <a:round/>
                      <a:headEnd type="none" w="med" len="med"/>
                      <a:tailEnd type="none" w="med" len="med"/>
                    </a:lnB>
                  </a:tcPr>
                </a:tc>
              </a:tr>
            </a:tbl>
          </a:graphicData>
        </a:graphic>
      </p:graphicFrame>
      <p:sp>
        <p:nvSpPr>
          <p:cNvPr id="5" name="Shape 2"/>
          <p:cNvSpPr/>
          <p:nvPr/>
        </p:nvSpPr>
        <p:spPr>
          <a:xfrm>
            <a:off x="8001000" y="1417320"/>
            <a:ext cx="3611880" cy="1965960"/>
          </a:xfrm>
          <a:prstGeom prst="roundRect">
            <a:avLst>
              <a:gd name="adj" fmla="val 3721"/>
            </a:avLst>
          </a:prstGeom>
          <a:solidFill>
            <a:srgbClr val="E8F4F1"/>
          </a:solidFill>
          <a:ln w="12700">
            <a:solidFill>
              <a:srgbClr val="E8F4F1"/>
            </a:solidFill>
            <a:prstDash val="solid"/>
          </a:ln>
        </p:spPr>
        <p:txBody>
          <a:bodyPr/>
          <a:p/>
        </p:txBody>
      </p:sp>
      <p:sp>
        <p:nvSpPr>
          <p:cNvPr id="6" name="Text 3"/>
          <p:cNvSpPr/>
          <p:nvPr/>
        </p:nvSpPr>
        <p:spPr>
          <a:xfrm>
            <a:off x="8275320" y="1600200"/>
            <a:ext cx="3108960" cy="1920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$317.6M</a:t>
            </a:r>
            <a:endParaRPr lang="en-US" sz="3200" dirty="0"/>
          </a:p>
          <a:p>
            <a:pPr indent="0" marL="0">
              <a:buNone/>
            </a:pPr>
            <a:r>
              <a:rPr lang="en-US" sz="1250" dirty="0">
                <a:solidFill>
                  <a:srgbClr val="16232B"/>
                </a:solidFill>
                <a:latin typeface="Calibri" pitchFamily="34" charset="0"/>
                <a:ea typeface="Calibri" pitchFamily="34" charset="-122"/>
                <a:cs typeface="Calibri" pitchFamily="34" charset="-120"/>
              </a:rPr>
              <a:t>is held by flagged prescribers across the top four segments — 54% of all within-specialty outlier dollars in Colorado, spread across 507 clinicians.</a:t>
            </a:r>
            <a:endParaRPr lang="en-US" sz="3200" dirty="0"/>
          </a:p>
        </p:txBody>
      </p:sp>
      <p:sp>
        <p:nvSpPr>
          <p:cNvPr id="7" name="Shape 4"/>
          <p:cNvSpPr/>
          <p:nvPr/>
        </p:nvSpPr>
        <p:spPr>
          <a:xfrm>
            <a:off x="8001000" y="3611880"/>
            <a:ext cx="3611880" cy="1783080"/>
          </a:xfrm>
          <a:prstGeom prst="roundRect">
            <a:avLst>
              <a:gd name="adj" fmla="val 4103"/>
            </a:avLst>
          </a:prstGeom>
          <a:solidFill>
            <a:srgbClr val="EDF3F6"/>
          </a:solidFill>
          <a:ln w="12700">
            <a:solidFill>
              <a:srgbClr val="EDF3F6"/>
            </a:solidFill>
            <a:prstDash val="solid"/>
          </a:ln>
        </p:spPr>
        <p:txBody>
          <a:bodyPr/>
          <a:p/>
        </p:txBody>
      </p:sp>
      <p:sp>
        <p:nvSpPr>
          <p:cNvPr id="8" name="Text 5"/>
          <p:cNvSpPr/>
          <p:nvPr/>
        </p:nvSpPr>
        <p:spPr>
          <a:xfrm>
            <a:off x="8275320" y="3794760"/>
            <a:ext cx="3108960" cy="1463040"/>
          </a:xfrm>
          <a:prstGeom prst="rect">
            <a:avLst/>
          </a:prstGeom>
          <a:noFill/>
          <a:ln/>
        </p:spPr>
        <p:txBody>
          <a:bodyPr wrap="square" lIns="0" tIns="0" rIns="0" bIns="0" rtlCol="0" anchor="t"/>
          <a:lstStyle/>
          <a:p>
            <a:pPr indent="0" marL="0">
              <a:buNone/>
            </a:pPr>
            <a:r>
              <a:rPr lang="en-US" sz="1400" b="1" dirty="0">
                <a:solidFill>
                  <a:srgbClr val="16232B"/>
                </a:solidFill>
                <a:latin typeface="Cambria" pitchFamily="34" charset="0"/>
                <a:ea typeface="Cambria" pitchFamily="34" charset="-122"/>
                <a:cs typeface="Cambria" pitchFamily="34" charset="-120"/>
              </a:rPr>
              <a:t>Second tier: Urology</a:t>
            </a:r>
            <a:endParaRPr lang="en-US" sz="1400" dirty="0"/>
          </a:p>
          <a:p>
            <a:pPr indent="0" marL="0">
              <a:buNone/>
            </a:pPr>
            <a:endParaRPr lang="en-US" sz="1400" dirty="0"/>
          </a:p>
          <a:p>
            <a:pPr indent="0" marL="0">
              <a:buNone/>
            </a:pPr>
            <a:r>
              <a:rPr lang="en-US" sz="1250" dirty="0">
                <a:solidFill>
                  <a:srgbClr val="16232B"/>
                </a:solidFill>
                <a:latin typeface="Calibri" pitchFamily="34" charset="0"/>
                <a:ea typeface="Calibri" pitchFamily="34" charset="-122"/>
                <a:cs typeface="Calibri" pitchFamily="34" charset="-120"/>
              </a:rPr>
              <a:t>Nine prescribers hold 53% of the entire specialty’s spend — the highest concentration on the list. Nine charts is a day of work.</a:t>
            </a:r>
            <a:endParaRPr lang="en-US" sz="1400" dirty="0"/>
          </a:p>
        </p:txBody>
      </p:sp>
      <p:sp>
        <p:nvSpPr>
          <p:cNvPr id="9" name="Text 6"/>
          <p:cNvSpPr/>
          <p:nvPr/>
        </p:nvSpPr>
        <p:spPr>
          <a:xfrm>
            <a:off x="594360" y="4617720"/>
            <a:ext cx="7086600" cy="640080"/>
          </a:xfrm>
          <a:prstGeom prst="rect">
            <a:avLst/>
          </a:prstGeom>
          <a:noFill/>
          <a:ln/>
        </p:spPr>
        <p:txBody>
          <a:bodyPr wrap="square" lIns="0" tIns="0" rIns="0" bIns="0" rtlCol="0" anchor="t"/>
          <a:lstStyle/>
          <a:p>
            <a:pPr indent="0" marL="0">
              <a:buNone/>
            </a:pPr>
            <a:r>
              <a:rPr lang="en-US" sz="1250" i="1" dirty="0">
                <a:solidFill>
                  <a:srgbClr val="5C7480"/>
                </a:solidFill>
                <a:latin typeface="Calibri" pitchFamily="34" charset="0"/>
                <a:ea typeface="Calibri" pitchFamily="34" charset="-122"/>
                <a:cs typeface="Calibri" pitchFamily="34" charset="-120"/>
              </a:rPr>
              <a:t>Ranked by spend flagged — the 2024 drug cost held by prescribers above their own specialty’s 95th percentile, which is the money a peer-based review would actually be looking at.</a:t>
            </a:r>
            <a:endParaRPr lang="en-US" sz="1250" dirty="0"/>
          </a:p>
        </p:txBody>
      </p:sp>
      <p:sp>
        <p:nvSpPr>
          <p:cNvPr id="10" name="Text 7"/>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Priority table: FINDINGS.md “Recommended priority segments”. Outlier rule: cost per claim above the prescriber’s own specialty 95th percentile. Cost per claim in this table is specialty-weighted (total cost ÷ total claims), so it runs higher than the prescriber-level medians on Finding 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EXECUTIVE VIEW</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The same finding, in the view a director would open</a:t>
            </a:r>
            <a:endParaRPr lang="en-US" sz="3200" dirty="0"/>
          </a:p>
        </p:txBody>
      </p:sp>
      <p:sp>
        <p:nvSpPr>
          <p:cNvPr id="5" name="Shape 2"/>
          <p:cNvSpPr/>
          <p:nvPr/>
        </p:nvSpPr>
        <p:spPr>
          <a:xfrm>
            <a:off x="8275320" y="1691640"/>
            <a:ext cx="3337560" cy="3931920"/>
          </a:xfrm>
          <a:prstGeom prst="roundRect">
            <a:avLst>
              <a:gd name="adj" fmla="val 2319"/>
            </a:avLst>
          </a:prstGeom>
          <a:solidFill>
            <a:srgbClr val="EDF3F6"/>
          </a:solidFill>
          <a:ln w="12700">
            <a:solidFill>
              <a:srgbClr val="EDF3F6"/>
            </a:solidFill>
            <a:prstDash val="solid"/>
          </a:ln>
        </p:spPr>
        <p:txBody>
          <a:bodyPr/>
          <a:p/>
        </p:txBody>
      </p:sp>
      <p:sp>
        <p:nvSpPr>
          <p:cNvPr id="6" name="Text 3"/>
          <p:cNvSpPr/>
          <p:nvPr/>
        </p:nvSpPr>
        <p:spPr>
          <a:xfrm>
            <a:off x="8522208" y="1920240"/>
            <a:ext cx="2880360" cy="3474720"/>
          </a:xfrm>
          <a:prstGeom prst="rect">
            <a:avLst/>
          </a:prstGeom>
          <a:noFill/>
          <a:ln/>
        </p:spPr>
        <p:txBody>
          <a:bodyPr wrap="square" lIns="0" tIns="0" rIns="0" bIns="0" rtlCol="0" anchor="t"/>
          <a:lstStyle/>
          <a:p>
            <a:pPr indent="0" marL="0">
              <a:buNone/>
            </a:pPr>
            <a:r>
              <a:rPr lang="en-US" sz="4000" b="1" dirty="0">
                <a:solidFill>
                  <a:srgbClr val="065A82"/>
                </a:solidFill>
                <a:latin typeface="Cambria" pitchFamily="34" charset="0"/>
                <a:ea typeface="Cambria" pitchFamily="34" charset="-122"/>
                <a:cs typeface="Cambria" pitchFamily="34" charset="-120"/>
              </a:rPr>
              <a:t>1st vs 6th</a:t>
            </a:r>
            <a:endParaRPr lang="en-US" sz="4000" dirty="0"/>
          </a:p>
          <a:p>
            <a:pPr indent="0" marL="0">
              <a:buNone/>
            </a:pPr>
            <a:r>
              <a:rPr lang="en-US" sz="1300" dirty="0">
                <a:solidFill>
                  <a:srgbClr val="16232B"/>
                </a:solidFill>
                <a:latin typeface="Calibri" pitchFamily="34" charset="0"/>
                <a:ea typeface="Calibri" pitchFamily="34" charset="-122"/>
                <a:cs typeface="Calibri" pitchFamily="34" charset="-120"/>
              </a:rPr>
              <a:t>Nurse Practitioner is first on flagged spend and sixth on cost per claim. Hematology-Oncology is fifth and first.</a:t>
            </a:r>
            <a:endParaRPr lang="en-US" sz="4000" dirty="0"/>
          </a:p>
          <a:p>
            <a:pPr indent="0" marL="0">
              <a:buNone/>
            </a:pPr>
            <a:endParaRPr lang="en-US" sz="4000" dirty="0"/>
          </a:p>
          <a:p>
            <a:pPr indent="0" marL="0">
              <a:buNone/>
            </a:pPr>
            <a:r>
              <a:rPr lang="en-US" sz="1300" i="1" dirty="0">
                <a:solidFill>
                  <a:srgbClr val="16232B"/>
                </a:solidFill>
                <a:latin typeface="Calibri" pitchFamily="34" charset="0"/>
                <a:ea typeface="Calibri" pitchFamily="34" charset="-122"/>
                <a:cs typeface="Calibri" pitchFamily="34" charset="-120"/>
              </a:rPr>
              <a:t>Almost inverted. In the scatter, blue marks the 965 prescribers above their own specialty's 95th percentile.</a:t>
            </a:r>
            <a:endParaRPr lang="en-US" sz="4000" dirty="0"/>
          </a:p>
        </p:txBody>
      </p:sp>
      <p:sp>
        <p:nvSpPr>
          <p:cNvPr id="7" name="Text 4"/>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Tableau workbook: CO Medicare Part D Dashboard.twbx, built on tableau_prescriber_segments.csv — 18,940 prescribers, 46 qualifying specialties. Figures reconcile to FINDINGS.md.</a:t>
            </a:r>
            <a:endParaRPr lang="en-US" sz="900" dirty="0"/>
          </a:p>
        </p:txBody>
      </p:sp>
      <p:pic>
        <p:nvPicPr>
          <p:cNvPr id="8" name="Picture 7" descr="dashboard_slide.png"/>
          <p:cNvPicPr>
            <a:picLocks noChangeAspect="1"/>
          </p:cNvPicPr>
          <p:nvPr/>
        </p:nvPicPr>
        <p:blipFill>
          <a:blip r:embed="rId5"/>
          <a:stretch>
            <a:fillRect/>
          </a:stretch>
        </p:blipFill>
        <p:spPr>
          <a:xfrm>
            <a:off x="621792" y="1417320"/>
            <a:ext cx="7452360" cy="44117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LIMITS</a:t>
            </a:r>
            <a:endParaRPr lang="en-US" sz="1100" dirty="0"/>
          </a:p>
        </p:txBody>
      </p:sp>
      <p:sp>
        <p:nvSpPr>
          <p:cNvPr id="3" name="Text 1"/>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6232B"/>
                </a:solidFill>
                <a:latin typeface="Cambria" pitchFamily="34" charset="0"/>
                <a:ea typeface="Cambria" pitchFamily="34" charset="-122"/>
                <a:cs typeface="Cambria" pitchFamily="34" charset="-120"/>
              </a:rPr>
              <a:t>What this analysis does not say</a:t>
            </a:r>
            <a:endParaRPr lang="en-US" sz="3200" dirty="0"/>
          </a:p>
        </p:txBody>
      </p:sp>
      <p:sp>
        <p:nvSpPr>
          <p:cNvPr id="4" name="Shape 2"/>
          <p:cNvSpPr/>
          <p:nvPr/>
        </p:nvSpPr>
        <p:spPr>
          <a:xfrm>
            <a:off x="594360" y="1554480"/>
            <a:ext cx="5486400" cy="1783080"/>
          </a:xfrm>
          <a:prstGeom prst="roundRect">
            <a:avLst>
              <a:gd name="adj" fmla="val 4103"/>
            </a:avLst>
          </a:prstGeom>
          <a:solidFill>
            <a:srgbClr val="EDF3F6"/>
          </a:solidFill>
          <a:ln w="12700">
            <a:solidFill>
              <a:srgbClr val="EDF3F6"/>
            </a:solidFill>
            <a:prstDash val="solid"/>
          </a:ln>
        </p:spPr>
        <p:txBody>
          <a:bodyPr/>
          <a:p/>
        </p:txBody>
      </p:sp>
      <p:sp>
        <p:nvSpPr>
          <p:cNvPr id="5" name="Shape 3"/>
          <p:cNvSpPr/>
          <p:nvPr/>
        </p:nvSpPr>
        <p:spPr>
          <a:xfrm>
            <a:off x="868680" y="1810512"/>
            <a:ext cx="411480" cy="411480"/>
          </a:xfrm>
          <a:prstGeom prst="ellipse">
            <a:avLst/>
          </a:prstGeom>
          <a:solidFill>
            <a:srgbClr val="065A82"/>
          </a:solidFill>
          <a:ln w="12700">
            <a:solidFill>
              <a:srgbClr val="065A82"/>
            </a:solidFill>
            <a:prstDash val="solid"/>
          </a:ln>
        </p:spPr>
        <p:txBody>
          <a:bodyPr/>
          <a:p/>
        </p:txBody>
      </p:sp>
      <p:sp>
        <p:nvSpPr>
          <p:cNvPr id="6" name="Text 4"/>
          <p:cNvSpPr/>
          <p:nvPr/>
        </p:nvSpPr>
        <p:spPr>
          <a:xfrm>
            <a:off x="868680" y="18105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35608" y="1773936"/>
            <a:ext cx="4343400" cy="502920"/>
          </a:xfrm>
          <a:prstGeom prst="rect">
            <a:avLst/>
          </a:prstGeom>
          <a:noFill/>
          <a:ln/>
        </p:spPr>
        <p:txBody>
          <a:bodyPr wrap="square" lIns="0" tIns="0" rIns="0" bIns="0" rtlCol="0" anchor="ctr"/>
          <a:lstStyle/>
          <a:p>
            <a:pPr indent="0" marL="0">
              <a:buNone/>
            </a:pPr>
            <a:r>
              <a:rPr lang="en-US" sz="1600" b="1" dirty="0">
                <a:solidFill>
                  <a:srgbClr val="16232B"/>
                </a:solidFill>
                <a:latin typeface="Cambria" pitchFamily="34" charset="0"/>
                <a:ea typeface="Cambria" pitchFamily="34" charset="-122"/>
                <a:cs typeface="Cambria" pitchFamily="34" charset="-120"/>
              </a:rPr>
              <a:t>No clinical context</a:t>
            </a:r>
            <a:endParaRPr lang="en-US" sz="1600" dirty="0"/>
          </a:p>
        </p:txBody>
      </p:sp>
      <p:sp>
        <p:nvSpPr>
          <p:cNvPr id="8" name="Text 6"/>
          <p:cNvSpPr/>
          <p:nvPr/>
        </p:nvSpPr>
        <p:spPr>
          <a:xfrm>
            <a:off x="868680" y="2395728"/>
            <a:ext cx="4937760" cy="1005840"/>
          </a:xfrm>
          <a:prstGeom prst="rect">
            <a:avLst/>
          </a:prstGeom>
          <a:noFill/>
          <a:ln/>
        </p:spPr>
        <p:txBody>
          <a:bodyPr wrap="square" lIns="0" tIns="0" rIns="0" bIns="0" rtlCol="0" anchor="t"/>
          <a:lstStyle/>
          <a:p>
            <a:pPr indent="0" marL="0">
              <a:buNone/>
            </a:pPr>
            <a:r>
              <a:rPr lang="en-US" sz="1250" dirty="0">
                <a:solidFill>
                  <a:srgbClr val="16232B"/>
                </a:solidFill>
                <a:latin typeface="Calibri" pitchFamily="34" charset="0"/>
                <a:ea typeface="Calibri" pitchFamily="34" charset="-122"/>
                <a:cs typeface="Calibri" pitchFamily="34" charset="-120"/>
              </a:rPr>
              <a:t>The file has no diagnoses, no severity, no panel composition. An outlier here is a statistical outlier — a reason to look, never a finding of waste or wrongdoing.</a:t>
            </a:r>
            <a:endParaRPr lang="en-US" sz="1250" dirty="0"/>
          </a:p>
        </p:txBody>
      </p:sp>
      <p:sp>
        <p:nvSpPr>
          <p:cNvPr id="9" name="Shape 7"/>
          <p:cNvSpPr/>
          <p:nvPr/>
        </p:nvSpPr>
        <p:spPr>
          <a:xfrm>
            <a:off x="6446520" y="1554480"/>
            <a:ext cx="5486400" cy="1783080"/>
          </a:xfrm>
          <a:prstGeom prst="roundRect">
            <a:avLst>
              <a:gd name="adj" fmla="val 4103"/>
            </a:avLst>
          </a:prstGeom>
          <a:solidFill>
            <a:srgbClr val="EDF3F6"/>
          </a:solidFill>
          <a:ln w="12700">
            <a:solidFill>
              <a:srgbClr val="EDF3F6"/>
            </a:solidFill>
            <a:prstDash val="solid"/>
          </a:ln>
        </p:spPr>
        <p:txBody>
          <a:bodyPr/>
          <a:p/>
        </p:txBody>
      </p:sp>
      <p:sp>
        <p:nvSpPr>
          <p:cNvPr id="10" name="Shape 8"/>
          <p:cNvSpPr/>
          <p:nvPr/>
        </p:nvSpPr>
        <p:spPr>
          <a:xfrm>
            <a:off x="6720840" y="1810512"/>
            <a:ext cx="411480" cy="411480"/>
          </a:xfrm>
          <a:prstGeom prst="ellipse">
            <a:avLst/>
          </a:prstGeom>
          <a:solidFill>
            <a:srgbClr val="065A82"/>
          </a:solidFill>
          <a:ln w="12700">
            <a:solidFill>
              <a:srgbClr val="065A82"/>
            </a:solidFill>
            <a:prstDash val="solid"/>
          </a:ln>
        </p:spPr>
        <p:txBody>
          <a:bodyPr/>
          <a:p/>
        </p:txBody>
      </p:sp>
      <p:sp>
        <p:nvSpPr>
          <p:cNvPr id="11" name="Text 9"/>
          <p:cNvSpPr/>
          <p:nvPr/>
        </p:nvSpPr>
        <p:spPr>
          <a:xfrm>
            <a:off x="6720840" y="18105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287768" y="1773936"/>
            <a:ext cx="4343400" cy="502920"/>
          </a:xfrm>
          <a:prstGeom prst="rect">
            <a:avLst/>
          </a:prstGeom>
          <a:noFill/>
          <a:ln/>
        </p:spPr>
        <p:txBody>
          <a:bodyPr wrap="square" lIns="0" tIns="0" rIns="0" bIns="0" rtlCol="0" anchor="ctr"/>
          <a:lstStyle/>
          <a:p>
            <a:pPr indent="0" marL="0">
              <a:buNone/>
            </a:pPr>
            <a:r>
              <a:rPr lang="en-US" sz="1600" b="1" dirty="0">
                <a:solidFill>
                  <a:srgbClr val="16232B"/>
                </a:solidFill>
                <a:latin typeface="Cambria" pitchFamily="34" charset="0"/>
                <a:ea typeface="Cambria" pitchFamily="34" charset="-122"/>
                <a:cs typeface="Cambria" pitchFamily="34" charset="-120"/>
              </a:rPr>
              <a:t>Deprioritize the expensive specialties</a:t>
            </a:r>
            <a:endParaRPr lang="en-US" sz="1600" dirty="0"/>
          </a:p>
        </p:txBody>
      </p:sp>
      <p:sp>
        <p:nvSpPr>
          <p:cNvPr id="13" name="Text 11"/>
          <p:cNvSpPr/>
          <p:nvPr/>
        </p:nvSpPr>
        <p:spPr>
          <a:xfrm>
            <a:off x="6720840" y="2395728"/>
            <a:ext cx="4937760" cy="1005840"/>
          </a:xfrm>
          <a:prstGeom prst="rect">
            <a:avLst/>
          </a:prstGeom>
          <a:noFill/>
          <a:ln/>
        </p:spPr>
        <p:txBody>
          <a:bodyPr wrap="square" lIns="0" tIns="0" rIns="0" bIns="0" rtlCol="0" anchor="t"/>
          <a:lstStyle/>
          <a:p>
            <a:pPr indent="0" marL="0">
              <a:buNone/>
            </a:pPr>
            <a:r>
              <a:rPr lang="en-US" sz="1250" dirty="0">
                <a:solidFill>
                  <a:srgbClr val="16232B"/>
                </a:solidFill>
                <a:latin typeface="Calibri" pitchFamily="34" charset="0"/>
                <a:ea typeface="Calibri" pitchFamily="34" charset="-122"/>
                <a:cs typeface="Calibri" pitchFamily="34" charset="-120"/>
              </a:rPr>
              <a:t>Oncology, pulmonary and cardiology rank high on dollars because their drugs genuinely cost more. The residual peer-level signal is real but small, and the clinical justification is stronger.</a:t>
            </a:r>
            <a:endParaRPr lang="en-US" sz="1250" dirty="0"/>
          </a:p>
        </p:txBody>
      </p:sp>
      <p:sp>
        <p:nvSpPr>
          <p:cNvPr id="14" name="Shape 12"/>
          <p:cNvSpPr/>
          <p:nvPr/>
        </p:nvSpPr>
        <p:spPr>
          <a:xfrm>
            <a:off x="594360" y="3657600"/>
            <a:ext cx="5486400" cy="1783080"/>
          </a:xfrm>
          <a:prstGeom prst="roundRect">
            <a:avLst>
              <a:gd name="adj" fmla="val 4103"/>
            </a:avLst>
          </a:prstGeom>
          <a:solidFill>
            <a:srgbClr val="EDF3F6"/>
          </a:solidFill>
          <a:ln w="12700">
            <a:solidFill>
              <a:srgbClr val="EDF3F6"/>
            </a:solidFill>
            <a:prstDash val="solid"/>
          </a:ln>
        </p:spPr>
        <p:txBody>
          <a:bodyPr/>
          <a:p/>
        </p:txBody>
      </p:sp>
      <p:sp>
        <p:nvSpPr>
          <p:cNvPr id="15" name="Shape 13"/>
          <p:cNvSpPr/>
          <p:nvPr/>
        </p:nvSpPr>
        <p:spPr>
          <a:xfrm>
            <a:off x="868680" y="3913632"/>
            <a:ext cx="411480" cy="411480"/>
          </a:xfrm>
          <a:prstGeom prst="ellipse">
            <a:avLst/>
          </a:prstGeom>
          <a:solidFill>
            <a:srgbClr val="5C7480"/>
          </a:solidFill>
          <a:ln w="12700">
            <a:solidFill>
              <a:srgbClr val="5C7480"/>
            </a:solidFill>
            <a:prstDash val="solid"/>
          </a:ln>
        </p:spPr>
        <p:txBody>
          <a:bodyPr/>
          <a:p/>
        </p:txBody>
      </p:sp>
      <p:sp>
        <p:nvSpPr>
          <p:cNvPr id="16" name="Text 14"/>
          <p:cNvSpPr/>
          <p:nvPr/>
        </p:nvSpPr>
        <p:spPr>
          <a:xfrm>
            <a:off x="868680" y="391363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35608" y="3877056"/>
            <a:ext cx="4343400" cy="502920"/>
          </a:xfrm>
          <a:prstGeom prst="rect">
            <a:avLst/>
          </a:prstGeom>
          <a:noFill/>
          <a:ln/>
        </p:spPr>
        <p:txBody>
          <a:bodyPr wrap="square" lIns="0" tIns="0" rIns="0" bIns="0" rtlCol="0" anchor="ctr"/>
          <a:lstStyle/>
          <a:p>
            <a:pPr indent="0" marL="0">
              <a:buNone/>
            </a:pPr>
            <a:r>
              <a:rPr lang="en-US" sz="1600" b="1" dirty="0">
                <a:solidFill>
                  <a:srgbClr val="16232B"/>
                </a:solidFill>
                <a:latin typeface="Cambria" pitchFamily="34" charset="0"/>
                <a:ea typeface="Cambria" pitchFamily="34" charset="-122"/>
                <a:cs typeface="Cambria" pitchFamily="34" charset="-120"/>
              </a:rPr>
              <a:t>Cost is gross, not net</a:t>
            </a:r>
            <a:endParaRPr lang="en-US" sz="1600" dirty="0"/>
          </a:p>
        </p:txBody>
      </p:sp>
      <p:sp>
        <p:nvSpPr>
          <p:cNvPr id="18" name="Text 16"/>
          <p:cNvSpPr/>
          <p:nvPr/>
        </p:nvSpPr>
        <p:spPr>
          <a:xfrm>
            <a:off x="868680" y="4498848"/>
            <a:ext cx="4937760" cy="1005840"/>
          </a:xfrm>
          <a:prstGeom prst="rect">
            <a:avLst/>
          </a:prstGeom>
          <a:noFill/>
          <a:ln/>
        </p:spPr>
        <p:txBody>
          <a:bodyPr wrap="square" lIns="0" tIns="0" rIns="0" bIns="0" rtlCol="0" anchor="t"/>
          <a:lstStyle/>
          <a:p>
            <a:pPr indent="0" marL="0">
              <a:buNone/>
            </a:pPr>
            <a:r>
              <a:rPr lang="en-US" sz="1250" dirty="0">
                <a:solidFill>
                  <a:srgbClr val="16232B"/>
                </a:solidFill>
                <a:latin typeface="Calibri" pitchFamily="34" charset="0"/>
                <a:ea typeface="Calibri" pitchFamily="34" charset="-122"/>
                <a:cs typeface="Calibri" pitchFamily="34" charset="-120"/>
              </a:rPr>
              <a:t>Tot_Drug_Cst is the gross point-of-sale price — what the plan, the patient and third parties paid combined, before manufacturer rebates — so cross-drug comparisons overstate the spread on rebated brands.</a:t>
            </a:r>
            <a:endParaRPr lang="en-US" sz="1250" dirty="0"/>
          </a:p>
        </p:txBody>
      </p:sp>
      <p:sp>
        <p:nvSpPr>
          <p:cNvPr id="19" name="Shape 17"/>
          <p:cNvSpPr/>
          <p:nvPr/>
        </p:nvSpPr>
        <p:spPr>
          <a:xfrm>
            <a:off x="6446520" y="3657600"/>
            <a:ext cx="5486400" cy="1783080"/>
          </a:xfrm>
          <a:prstGeom prst="roundRect">
            <a:avLst>
              <a:gd name="adj" fmla="val 4103"/>
            </a:avLst>
          </a:prstGeom>
          <a:solidFill>
            <a:srgbClr val="EDF3F6"/>
          </a:solidFill>
          <a:ln w="12700">
            <a:solidFill>
              <a:srgbClr val="EDF3F6"/>
            </a:solidFill>
            <a:prstDash val="solid"/>
          </a:ln>
        </p:spPr>
        <p:txBody>
          <a:bodyPr/>
          <a:p/>
        </p:txBody>
      </p:sp>
      <p:sp>
        <p:nvSpPr>
          <p:cNvPr id="20" name="Shape 18"/>
          <p:cNvSpPr/>
          <p:nvPr/>
        </p:nvSpPr>
        <p:spPr>
          <a:xfrm>
            <a:off x="6720840" y="3913632"/>
            <a:ext cx="411480" cy="411480"/>
          </a:xfrm>
          <a:prstGeom prst="ellipse">
            <a:avLst/>
          </a:prstGeom>
          <a:solidFill>
            <a:srgbClr val="5C7480"/>
          </a:solidFill>
          <a:ln w="12700">
            <a:solidFill>
              <a:srgbClr val="5C7480"/>
            </a:solidFill>
            <a:prstDash val="solid"/>
          </a:ln>
        </p:spPr>
        <p:txBody>
          <a:bodyPr/>
          <a:p/>
        </p:txBody>
      </p:sp>
      <p:sp>
        <p:nvSpPr>
          <p:cNvPr id="21" name="Text 19"/>
          <p:cNvSpPr/>
          <p:nvPr/>
        </p:nvSpPr>
        <p:spPr>
          <a:xfrm>
            <a:off x="6720840" y="391363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287768" y="3877056"/>
            <a:ext cx="4343400" cy="502920"/>
          </a:xfrm>
          <a:prstGeom prst="rect">
            <a:avLst/>
          </a:prstGeom>
          <a:noFill/>
          <a:ln/>
        </p:spPr>
        <p:txBody>
          <a:bodyPr wrap="square" lIns="0" tIns="0" rIns="0" bIns="0" rtlCol="0" anchor="ctr"/>
          <a:lstStyle/>
          <a:p>
            <a:pPr indent="0" marL="0">
              <a:buNone/>
            </a:pPr>
            <a:r>
              <a:rPr lang="en-US" sz="1600" b="1" dirty="0">
                <a:solidFill>
                  <a:srgbClr val="16232B"/>
                </a:solidFill>
                <a:latin typeface="Cambria" pitchFamily="34" charset="0"/>
                <a:ea typeface="Cambria" pitchFamily="34" charset="-122"/>
                <a:cs typeface="Cambria" pitchFamily="34" charset="-120"/>
              </a:rPr>
              <a:t>One year, one state, and 51 specialties excluded</a:t>
            </a:r>
            <a:endParaRPr lang="en-US" sz="1600" dirty="0"/>
          </a:p>
        </p:txBody>
      </p:sp>
      <p:sp>
        <p:nvSpPr>
          <p:cNvPr id="23" name="Text 21"/>
          <p:cNvSpPr/>
          <p:nvPr/>
        </p:nvSpPr>
        <p:spPr>
          <a:xfrm>
            <a:off x="6720840" y="4498848"/>
            <a:ext cx="4937760" cy="1005840"/>
          </a:xfrm>
          <a:prstGeom prst="rect">
            <a:avLst/>
          </a:prstGeom>
          <a:noFill/>
          <a:ln/>
        </p:spPr>
        <p:txBody>
          <a:bodyPr wrap="square" lIns="0" tIns="0" rIns="0" bIns="0" rtlCol="0" anchor="t"/>
          <a:lstStyle/>
          <a:p>
            <a:pPr indent="0" marL="0">
              <a:buNone/>
            </a:pPr>
            <a:r>
              <a:rPr lang="en-US" sz="1250" dirty="0">
                <a:solidFill>
                  <a:srgbClr val="16232B"/>
                </a:solidFill>
                <a:latin typeface="Calibri" pitchFamily="34" charset="0"/>
                <a:ea typeface="Calibri" pitchFamily="34" charset="-122"/>
                <a:cs typeface="Calibri" pitchFamily="34" charset="-120"/>
              </a:rPr>
              <a:t>2024 Colorado only — no trend, no national benchmark. The ≥30-prescriber rule drops 51 of 97 specialties, covering 2.3% of prescribers and 3.0% of spend.</a:t>
            </a:r>
            <a:endParaRPr lang="en-US" sz="1250" dirty="0"/>
          </a:p>
        </p:txBody>
      </p:sp>
      <p:sp>
        <p:nvSpPr>
          <p:cNvPr id="24" name="Text 22"/>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480"/>
                </a:solidFill>
                <a:latin typeface="Calibri" pitchFamily="34" charset="0"/>
                <a:ea typeface="Calibri" pitchFamily="34" charset="-122"/>
                <a:cs typeface="Calibri" pitchFamily="34" charset="-120"/>
              </a:rPr>
              <a:t>Source: FINDINGS.md “What these findings do not establish” and CLEANING.md Data Limitations. The 65-and-over split was built in SQL but is not reported: those columns are suppressed on 42.1% of rows (QUESTIONS.md Q9).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149840" y="-1097280"/>
            <a:ext cx="3840480" cy="3840480"/>
          </a:xfrm>
          <a:prstGeom prst="ellipse">
            <a:avLst/>
          </a:prstGeom>
          <a:solidFill>
            <a:srgbClr val="065A82"/>
          </a:solidFill>
          <a:ln w="12700">
            <a:solidFill>
              <a:srgbClr val="065A82"/>
            </a:solidFill>
            <a:prstDash val="solid"/>
          </a:ln>
        </p:spPr>
        <p:txBody>
          <a:bodyPr/>
          <a:p/>
        </p:txBody>
      </p:sp>
      <p:sp>
        <p:nvSpPr>
          <p:cNvPr id="3" name="Text 1"/>
          <p:cNvSpPr/>
          <p:nvPr/>
        </p:nvSpPr>
        <p:spPr>
          <a:xfrm>
            <a:off x="566928" y="128016"/>
            <a:ext cx="11064240" cy="274320"/>
          </a:xfrm>
          <a:prstGeom prst="rect">
            <a:avLst/>
          </a:prstGeom>
          <a:noFill/>
          <a:ln/>
        </p:spPr>
        <p:txBody>
          <a:bodyPr wrap="square" lIns="0" tIns="0" rIns="0" bIns="0" rtlCol="0" anchor="ctr"/>
          <a:lstStyle/>
          <a:p>
            <a:pPr indent="0" marL="0">
              <a:buNone/>
            </a:pPr>
            <a:r>
              <a:rPr lang="en-US" sz="1100" b="1" spc="200" kern="0" dirty="0">
                <a:solidFill>
                  <a:srgbClr val="7FD3C4"/>
                </a:solidFill>
                <a:latin typeface="Calibri" pitchFamily="34" charset="0"/>
                <a:ea typeface="Calibri" pitchFamily="34" charset="-122"/>
                <a:cs typeface="Calibri" pitchFamily="34" charset="-120"/>
              </a:rPr>
              <a:t>NEXT STEPS</a:t>
            </a:r>
            <a:endParaRPr lang="en-US" sz="1100" dirty="0"/>
          </a:p>
        </p:txBody>
      </p:sp>
      <p:sp>
        <p:nvSpPr>
          <p:cNvPr id="4" name="Text 2"/>
          <p:cNvSpPr/>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What I would do next</a:t>
            </a:r>
            <a:endParaRPr lang="en-US" sz="3200" dirty="0"/>
          </a:p>
        </p:txBody>
      </p:sp>
      <p:sp>
        <p:nvSpPr>
          <p:cNvPr id="5" name="Shape 3"/>
          <p:cNvSpPr/>
          <p:nvPr/>
        </p:nvSpPr>
        <p:spPr>
          <a:xfrm>
            <a:off x="640080" y="1691640"/>
            <a:ext cx="475488" cy="475488"/>
          </a:xfrm>
          <a:prstGeom prst="ellipse">
            <a:avLst/>
          </a:prstGeom>
          <a:solidFill>
            <a:srgbClr val="00A896"/>
          </a:solidFill>
          <a:ln w="12700">
            <a:solidFill>
              <a:srgbClr val="00A896"/>
            </a:solidFill>
            <a:prstDash val="solid"/>
          </a:ln>
        </p:spPr>
        <p:txBody>
          <a:bodyPr/>
          <a:p/>
        </p:txBody>
      </p:sp>
      <p:sp>
        <p:nvSpPr>
          <p:cNvPr id="6" name="Text 4"/>
          <p:cNvSpPr/>
          <p:nvPr/>
        </p:nvSpPr>
        <p:spPr>
          <a:xfrm>
            <a:off x="640080" y="169164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1581912"/>
            <a:ext cx="9966960"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Run the 507-clinician cohort as a pilot</a:t>
            </a:r>
            <a:endParaRPr lang="en-US" sz="1700" dirty="0"/>
          </a:p>
        </p:txBody>
      </p:sp>
      <p:sp>
        <p:nvSpPr>
          <p:cNvPr id="8" name="Text 6"/>
          <p:cNvSpPr/>
          <p:nvPr/>
        </p:nvSpPr>
        <p:spPr>
          <a:xfrm>
            <a:off x="1325880" y="1965960"/>
            <a:ext cx="9966960" cy="548640"/>
          </a:xfrm>
          <a:prstGeom prst="rect">
            <a:avLst/>
          </a:prstGeom>
          <a:noFill/>
          <a:ln/>
        </p:spPr>
        <p:txBody>
          <a:bodyPr wrap="square" lIns="0" tIns="0" rIns="0" bIns="0" rtlCol="0" anchor="t"/>
          <a:lstStyle/>
          <a:p>
            <a:pPr indent="0" marL="0">
              <a:buNone/>
            </a:pPr>
            <a:r>
              <a:rPr lang="en-US" sz="1250" dirty="0">
                <a:solidFill>
                  <a:srgbClr val="CFE3EC"/>
                </a:solidFill>
                <a:latin typeface="Calibri" pitchFamily="34" charset="0"/>
                <a:ea typeface="Calibri" pitchFamily="34" charset="-122"/>
                <a:cs typeface="Calibri" pitchFamily="34" charset="-120"/>
              </a:rPr>
              <a:t>Peer-comparison letters and pharmacist outreach, then measure whether the peer gap narrows in the next data year.</a:t>
            </a:r>
            <a:endParaRPr lang="en-US" sz="1250" dirty="0"/>
          </a:p>
        </p:txBody>
      </p:sp>
      <p:sp>
        <p:nvSpPr>
          <p:cNvPr id="9" name="Shape 7"/>
          <p:cNvSpPr/>
          <p:nvPr/>
        </p:nvSpPr>
        <p:spPr>
          <a:xfrm>
            <a:off x="640080" y="2743200"/>
            <a:ext cx="475488" cy="475488"/>
          </a:xfrm>
          <a:prstGeom prst="ellipse">
            <a:avLst/>
          </a:prstGeom>
          <a:solidFill>
            <a:srgbClr val="1C7293"/>
          </a:solidFill>
          <a:ln w="12700">
            <a:solidFill>
              <a:srgbClr val="1C7293"/>
            </a:solidFill>
            <a:prstDash val="solid"/>
          </a:ln>
        </p:spPr>
        <p:txBody>
          <a:bodyPr/>
          <a:p/>
        </p:txBody>
      </p:sp>
      <p:sp>
        <p:nvSpPr>
          <p:cNvPr id="10" name="Text 8"/>
          <p:cNvSpPr/>
          <p:nvPr/>
        </p:nvSpPr>
        <p:spPr>
          <a:xfrm>
            <a:off x="640080" y="274320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325880" y="2633472"/>
            <a:ext cx="9966960"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Scope a formulary review to 20 drugs</a:t>
            </a:r>
            <a:endParaRPr lang="en-US" sz="1700" dirty="0"/>
          </a:p>
        </p:txBody>
      </p:sp>
      <p:sp>
        <p:nvSpPr>
          <p:cNvPr id="12" name="Text 10"/>
          <p:cNvSpPr/>
          <p:nvPr/>
        </p:nvSpPr>
        <p:spPr>
          <a:xfrm>
            <a:off x="1325880" y="3017520"/>
            <a:ext cx="9966960" cy="548640"/>
          </a:xfrm>
          <a:prstGeom prst="rect">
            <a:avLst/>
          </a:prstGeom>
          <a:noFill/>
          <a:ln/>
        </p:spPr>
        <p:txBody>
          <a:bodyPr wrap="square" lIns="0" tIns="0" rIns="0" bIns="0" rtlCol="0" anchor="t"/>
          <a:lstStyle/>
          <a:p>
            <a:pPr indent="0" marL="0">
              <a:buNone/>
            </a:pPr>
            <a:r>
              <a:rPr lang="en-US" sz="1250" dirty="0">
                <a:solidFill>
                  <a:srgbClr val="CFE3EC"/>
                </a:solidFill>
                <a:latin typeface="Calibri" pitchFamily="34" charset="0"/>
                <a:ea typeface="Calibri" pitchFamily="34" charset="-122"/>
                <a:cs typeface="Calibri" pitchFamily="34" charset="-120"/>
              </a:rPr>
              <a:t>Those twenty carry 45.5% of state spend — the cheapest structural lever available.</a:t>
            </a:r>
            <a:endParaRPr lang="en-US" sz="1250" dirty="0"/>
          </a:p>
        </p:txBody>
      </p:sp>
      <p:sp>
        <p:nvSpPr>
          <p:cNvPr id="13" name="Shape 11"/>
          <p:cNvSpPr/>
          <p:nvPr/>
        </p:nvSpPr>
        <p:spPr>
          <a:xfrm>
            <a:off x="640080" y="3794760"/>
            <a:ext cx="475488" cy="475488"/>
          </a:xfrm>
          <a:prstGeom prst="ellipse">
            <a:avLst/>
          </a:prstGeom>
          <a:solidFill>
            <a:srgbClr val="1C7293"/>
          </a:solidFill>
          <a:ln w="12700">
            <a:solidFill>
              <a:srgbClr val="1C7293"/>
            </a:solidFill>
            <a:prstDash val="solid"/>
          </a:ln>
        </p:spPr>
        <p:txBody>
          <a:bodyPr/>
          <a:p/>
        </p:txBody>
      </p:sp>
      <p:sp>
        <p:nvSpPr>
          <p:cNvPr id="14" name="Text 12"/>
          <p:cNvSpPr/>
          <p:nvPr/>
        </p:nvSpPr>
        <p:spPr>
          <a:xfrm>
            <a:off x="640080" y="379476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325880" y="3685032"/>
            <a:ext cx="9966960"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Rebuild the flag with clinical context</a:t>
            </a:r>
            <a:endParaRPr lang="en-US" sz="1700" dirty="0"/>
          </a:p>
        </p:txBody>
      </p:sp>
      <p:sp>
        <p:nvSpPr>
          <p:cNvPr id="16" name="Text 14"/>
          <p:cNvSpPr/>
          <p:nvPr/>
        </p:nvSpPr>
        <p:spPr>
          <a:xfrm>
            <a:off x="1325880" y="4069080"/>
            <a:ext cx="9966960" cy="548640"/>
          </a:xfrm>
          <a:prstGeom prst="rect">
            <a:avLst/>
          </a:prstGeom>
          <a:noFill/>
          <a:ln/>
        </p:spPr>
        <p:txBody>
          <a:bodyPr wrap="square" lIns="0" tIns="0" rIns="0" bIns="0" rtlCol="0" anchor="t"/>
          <a:lstStyle/>
          <a:p>
            <a:pPr indent="0" marL="0">
              <a:buNone/>
            </a:pPr>
            <a:r>
              <a:rPr lang="en-US" sz="1250" dirty="0">
                <a:solidFill>
                  <a:srgbClr val="CFE3EC"/>
                </a:solidFill>
                <a:latin typeface="Calibri" pitchFamily="34" charset="0"/>
                <a:ea typeface="Calibri" pitchFamily="34" charset="-122"/>
                <a:cs typeface="Calibri" pitchFamily="34" charset="-120"/>
              </a:rPr>
              <a:t>Diagnoses and panel composition would turn a statistical outlier into an actionable one. That data lives inside a health system, not in a public file.</a:t>
            </a:r>
            <a:endParaRPr lang="en-US" sz="1250" dirty="0"/>
          </a:p>
        </p:txBody>
      </p:sp>
      <p:sp>
        <p:nvSpPr>
          <p:cNvPr id="17" name="Shape 15"/>
          <p:cNvSpPr/>
          <p:nvPr/>
        </p:nvSpPr>
        <p:spPr>
          <a:xfrm>
            <a:off x="640080" y="4846320"/>
            <a:ext cx="475488" cy="475488"/>
          </a:xfrm>
          <a:prstGeom prst="ellipse">
            <a:avLst/>
          </a:prstGeom>
          <a:solidFill>
            <a:srgbClr val="1C7293"/>
          </a:solidFill>
          <a:ln w="12700">
            <a:solidFill>
              <a:srgbClr val="1C7293"/>
            </a:solidFill>
            <a:prstDash val="solid"/>
          </a:ln>
        </p:spPr>
        <p:txBody>
          <a:bodyPr/>
          <a:p/>
        </p:txBody>
      </p:sp>
      <p:sp>
        <p:nvSpPr>
          <p:cNvPr id="18" name="Text 16"/>
          <p:cNvSpPr/>
          <p:nvPr/>
        </p:nvSpPr>
        <p:spPr>
          <a:xfrm>
            <a:off x="640080" y="484632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325880" y="4736592"/>
            <a:ext cx="9966960"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Repeat on the 2023 file</a:t>
            </a:r>
            <a:endParaRPr lang="en-US" sz="1700" dirty="0"/>
          </a:p>
        </p:txBody>
      </p:sp>
      <p:sp>
        <p:nvSpPr>
          <p:cNvPr id="20" name="Text 18"/>
          <p:cNvSpPr/>
          <p:nvPr/>
        </p:nvSpPr>
        <p:spPr>
          <a:xfrm>
            <a:off x="1325880" y="5120640"/>
            <a:ext cx="9966960" cy="548640"/>
          </a:xfrm>
          <a:prstGeom prst="rect">
            <a:avLst/>
          </a:prstGeom>
          <a:noFill/>
          <a:ln/>
        </p:spPr>
        <p:txBody>
          <a:bodyPr wrap="square" lIns="0" tIns="0" rIns="0" bIns="0" rtlCol="0" anchor="t"/>
          <a:lstStyle/>
          <a:p>
            <a:pPr indent="0" marL="0">
              <a:buNone/>
            </a:pPr>
            <a:r>
              <a:rPr lang="en-US" sz="1250" dirty="0">
                <a:solidFill>
                  <a:srgbClr val="CFE3EC"/>
                </a:solidFill>
                <a:latin typeface="Calibri" pitchFamily="34" charset="0"/>
                <a:ea typeface="Calibri" pitchFamily="34" charset="-122"/>
                <a:cs typeface="Calibri" pitchFamily="34" charset="-120"/>
              </a:rPr>
              <a:t>One year cannot separate a persistent pattern from a single unusual year. Two can.</a:t>
            </a:r>
            <a:endParaRPr lang="en-US" sz="1250" dirty="0"/>
          </a:p>
        </p:txBody>
      </p:sp>
      <p:sp>
        <p:nvSpPr>
          <p:cNvPr id="21" name="Text 19"/>
          <p:cNvSpPr/>
          <p:nvPr/>
        </p:nvSpPr>
        <p:spPr>
          <a:xfrm>
            <a:off x="640080" y="5897880"/>
            <a:ext cx="7315200" cy="457200"/>
          </a:xfrm>
          <a:prstGeom prst="rect">
            <a:avLst/>
          </a:prstGeom>
          <a:noFill/>
          <a:ln/>
        </p:spPr>
        <p:txBody>
          <a:bodyPr wrap="square" lIns="0" tIns="0" rIns="0" bIns="0" rtlCol="0" anchor="ctr"/>
          <a:lstStyle/>
          <a:p>
            <a:pPr indent="0" marL="0">
              <a:buNone/>
            </a:pPr>
            <a:r>
              <a:rPr lang="en-US" sz="1900" b="1" dirty="0">
                <a:solidFill>
                  <a:srgbClr val="00A896"/>
                </a:solidFill>
                <a:latin typeface="Cambria" pitchFamily="34" charset="0"/>
                <a:ea typeface="Cambria" pitchFamily="34" charset="-122"/>
                <a:cs typeface="Cambria" pitchFamily="34" charset="-120"/>
              </a:rPr>
              <a:t>Thank you — questions welcome.</a:t>
            </a:r>
            <a:endParaRPr lang="en-US" sz="1900" dirty="0"/>
          </a:p>
        </p:txBody>
      </p:sp>
      <p:sp>
        <p:nvSpPr>
          <p:cNvPr id="22" name="Text 20"/>
          <p:cNvSpPr/>
          <p:nvPr/>
        </p:nvSpPr>
        <p:spPr>
          <a:xfrm>
            <a:off x="8412480" y="5897880"/>
            <a:ext cx="3200400" cy="457200"/>
          </a:xfrm>
          <a:prstGeom prst="rect">
            <a:avLst/>
          </a:prstGeom>
          <a:noFill/>
          <a:ln/>
        </p:spPr>
        <p:txBody>
          <a:bodyPr wrap="square" lIns="0" tIns="0" rIns="0" bIns="0" rtlCol="0" anchor="ctr"/>
          <a:lstStyle/>
          <a:p>
            <a:pPr algn="r" indent="0" marL="0">
              <a:buNone/>
            </a:pPr>
            <a:r>
              <a:rPr lang="en-US" sz="1300" dirty="0">
                <a:solidFill>
                  <a:srgbClr val="9FC0D0"/>
                </a:solidFill>
                <a:latin typeface="Calibri" pitchFamily="34" charset="0"/>
                <a:ea typeface="Calibri" pitchFamily="34" charset="-122"/>
                <a:cs typeface="Calibri" pitchFamily="34" charset="-120"/>
              </a:rPr>
              <a:t>Caleb Edwards, M.D.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Colorado Medicare Part D Prescribing Pattern Analysis</dc:title>
  <dc:subject>PptxGenJS Presentation</dc:subject>
  <dc:creator>Caleb Edwards</dc:creator>
  <cp:lastModifiedBy>Caleb Edwards</cp:lastModifiedBy>
  <cp:revision>1</cp:revision>
  <dcterms:created xsi:type="dcterms:W3CDTF">2026-08-13T01:53:42Z</dcterms:created>
  <dcterms:modified xsi:type="dcterms:W3CDTF">2026-08-13T01:53:42Z</dcterms:modified>
</cp:coreProperties>
</file>